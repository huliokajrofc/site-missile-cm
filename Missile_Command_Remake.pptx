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7686f3b-7257-da6b-e848-848741b4341d}">
          <p14:sldIdLst>
            <p14:sldId id="256"/>
            <p14:sldId id="257"/>
          </p14:sldIdLst>
        </p14:section>
        <p14:section name="Projeto" id="{0eec18c6-acd2-3bdc-87cc-e7c75f0f2076}">
          <p14:sldIdLst>
            <p14:sldId id="258"/>
          </p14:sldIdLst>
        </p14:section>
        <p14:section name="Conceito" id="{3d336c2e-b23b-66ad-2f71-1979a112cf86}">
          <p14:sldIdLst>
            <p14:sldId id="259"/>
            <p14:sldId id="260"/>
            <p14:sldId id="261"/>
          </p14:sldIdLst>
        </p14:section>
        <p14:section name="Público" id="{23a3a3ed-4f1d-758d-f818-8c74719c63b2}">
          <p14:sldIdLst>
            <p14:sldId id="262"/>
          </p14:sldIdLst>
        </p14:section>
        <p14:section name="Arte" id="{ae50ffcd-37a9-35c8-4237-e58e0c23f62a}">
          <p14:sldIdLst>
            <p14:sldId id="263"/>
            <p14:sldId id="264"/>
          </p14:sldIdLst>
        </p14:section>
        <p14:section name="Mecânicas" id="{446b2d54-acad-0065-85ec-49144b17ea63}">
          <p14:sldIdLst>
            <p14:sldId id="265"/>
            <p14:sldId id="266"/>
            <p14:sldId id="267"/>
          </p14:sldIdLst>
        </p14:section>
        <p14:section name="Código" id="{ea649f0e-43fc-fff4-8df4-761e1230768b}">
          <p14:sldIdLst>
            <p14:sldId id="268"/>
          </p14:sldIdLst>
        </p14:section>
        <p14:section name="Demonstração" id="{b44bb797-93f5-2f81-c1f7-35487dc1401e}">
          <p14:sldIdLst>
            <p14:sldId id="269"/>
          </p14:sldIdLst>
        </p14:section>
        <p14:section name="Encerramento" id="{ad2aca49-1803-0db0-240e-5b7a02294fa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ADE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ln w="28575">
            <a:solidFill>
              <a:srgbClr val="EF3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118872" cy="118872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63095" y="109728"/>
            <a:ext cx="118872" cy="118872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6601968"/>
            <a:ext cx="118872" cy="118872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63095" y="6601968"/>
            <a:ext cx="118872" cy="118872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73152"/>
            <a:ext cx="1033272" cy="201168"/>
          </a:xfrm>
          <a:prstGeom prst="rect">
            <a:avLst/>
          </a:prstGeom>
          <a:solidFill>
            <a:srgbClr val="050507"/>
          </a:solidFill>
          <a:ln w="25400">
            <a:solidFill>
              <a:srgbClr val="EF3B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137160"/>
            <a:ext cx="82296" cy="82296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53328" y="137160"/>
            <a:ext cx="82296" cy="82296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54496" y="137160"/>
            <a:ext cx="82296" cy="82296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1" name="Text 9"/>
          <p:cNvSpPr/>
          <p:nvPr>
            <p:ph idx="109" type="title" hasCustomPrompt="1"/>
          </p:nvPr>
        </p:nvSpPr>
        <p:spPr>
          <a:xfrm>
            <a:off x="1417320" y="384048"/>
            <a:ext cx="935431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defRPr>
            </a:lvl1pPr>
          </a:lstStyle>
          <a:p>
            <a:pPr algn="ctr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ADE_COVER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ln w="28575">
            <a:solidFill>
              <a:srgbClr val="EF3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118872" cy="118872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63095" y="109728"/>
            <a:ext cx="118872" cy="118872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6601968"/>
            <a:ext cx="118872" cy="118872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63095" y="6601968"/>
            <a:ext cx="118872" cy="118872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73152"/>
            <a:ext cx="1033272" cy="201168"/>
          </a:xfrm>
          <a:prstGeom prst="rect">
            <a:avLst/>
          </a:prstGeom>
          <a:solidFill>
            <a:srgbClr val="050507"/>
          </a:solidFill>
          <a:ln w="25400">
            <a:solidFill>
              <a:srgbClr val="EF3B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137160"/>
            <a:ext cx="82296" cy="82296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53328" y="137160"/>
            <a:ext cx="82296" cy="82296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54496" y="137160"/>
            <a:ext cx="82296" cy="82296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1" name="Text 9"/>
          <p:cNvSpPr/>
          <p:nvPr>
            <p:ph idx="109" type="title" hasCustomPrompt="1"/>
          </p:nvPr>
        </p:nvSpPr>
        <p:spPr>
          <a:xfrm>
            <a:off x="1097280" y="365760"/>
            <a:ext cx="9994392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1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1-1.png"/><Relationship Id="rId6" Type="http://schemas.openxmlformats.org/officeDocument/2006/relationships/image" Target="../media/image-2-6.png"/><Relationship Id="rId7" Type="http://schemas.openxmlformats.org/officeDocument/2006/relationships/image" Target="../media/image-1-9.png"/><Relationship Id="rId8" Type="http://schemas.openxmlformats.org/officeDocument/2006/relationships/image" Target="../media/image-2-8.png"/><Relationship Id="rId9" Type="http://schemas.openxmlformats.org/officeDocument/2006/relationships/image" Target="../media/image-2-3.png"/><Relationship Id="rId10" Type="http://schemas.openxmlformats.org/officeDocument/2006/relationships/image" Target="../media/image-2-10.png"/><Relationship Id="rId11" Type="http://schemas.openxmlformats.org/officeDocument/2006/relationships/image" Target="../media/image-1-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1-9.png"/><Relationship Id="rId4" Type="http://schemas.openxmlformats.org/officeDocument/2006/relationships/image" Target="../media/image-1-10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2-6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2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2-12.png"/><Relationship Id="rId15" Type="http://schemas.openxmlformats.org/officeDocument/2006/relationships/image" Target="../media/image-3-15.png"/><Relationship Id="rId16" Type="http://schemas.openxmlformats.org/officeDocument/2006/relationships/image" Target="../media/image-2-12.png"/><Relationship Id="rId17" Type="http://schemas.openxmlformats.org/officeDocument/2006/relationships/image" Target="../media/image-2-8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19.png"/><Relationship Id="rId21" Type="http://schemas.openxmlformats.org/officeDocument/2006/relationships/image" Target="../media/image-3-18.png"/><Relationship Id="rId22" Type="http://schemas.openxmlformats.org/officeDocument/2006/relationships/image" Target="../media/image-1-4.png"/><Relationship Id="rId23" Type="http://schemas.openxmlformats.org/officeDocument/2006/relationships/slideLayout" Target="../slideLayouts/slideLayout2.xml"/><Relationship Id="rId2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0.png"/><Relationship Id="rId2" Type="http://schemas.openxmlformats.org/officeDocument/2006/relationships/image" Target="../media/image-2-4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3-13.png"/><Relationship Id="rId6" Type="http://schemas.openxmlformats.org/officeDocument/2006/relationships/image" Target="../media/image-1-9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4.png"/><Relationship Id="rId2" Type="http://schemas.openxmlformats.org/officeDocument/2006/relationships/image" Target="../media/image-5-2.png"/><Relationship Id="rId3" Type="http://schemas.openxmlformats.org/officeDocument/2006/relationships/image" Target="../media/image-3-9.png"/><Relationship Id="rId4" Type="http://schemas.openxmlformats.org/officeDocument/2006/relationships/image" Target="../media/image-4-4.png"/><Relationship Id="rId5" Type="http://schemas.openxmlformats.org/officeDocument/2006/relationships/image" Target="../media/image-3-13.png"/><Relationship Id="rId6" Type="http://schemas.openxmlformats.org/officeDocument/2006/relationships/image" Target="../media/image-1-9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1-2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1-3.png"/><Relationship Id="rId11" Type="http://schemas.openxmlformats.org/officeDocument/2006/relationships/image" Target="../media/image-6-11.png"/><Relationship Id="rId12" Type="http://schemas.openxmlformats.org/officeDocument/2006/relationships/image" Target="../media/image-3-11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2-10.png"/><Relationship Id="rId16" Type="http://schemas.openxmlformats.org/officeDocument/2006/relationships/image" Target="../media/image-6-16.png"/><Relationship Id="rId17" Type="http://schemas.openxmlformats.org/officeDocument/2006/relationships/image" Target="../media/image-5-2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-12.png"/><Relationship Id="rId3" Type="http://schemas.openxmlformats.org/officeDocument/2006/relationships/image" Target="../media/image-1-9.png"/><Relationship Id="rId4" Type="http://schemas.openxmlformats.org/officeDocument/2006/relationships/image" Target="../media/image-7-1.png"/><Relationship Id="rId5" Type="http://schemas.openxmlformats.org/officeDocument/2006/relationships/image" Target="../media/image-1-8.png"/><Relationship Id="rId6" Type="http://schemas.openxmlformats.org/officeDocument/2006/relationships/image" Target="../media/image-6-5.png"/><Relationship Id="rId7" Type="http://schemas.openxmlformats.org/officeDocument/2006/relationships/image" Target="../media/image-1-9.png"/><Relationship Id="rId8" Type="http://schemas.openxmlformats.org/officeDocument/2006/relationships/image" Target="../media/image-7-8.png"/><Relationship Id="rId9" Type="http://schemas.openxmlformats.org/officeDocument/2006/relationships/image" Target="../media/image-2-3.png"/><Relationship Id="rId10" Type="http://schemas.openxmlformats.org/officeDocument/2006/relationships/image" Target="../media/image-7-10.png"/><Relationship Id="rId11" Type="http://schemas.openxmlformats.org/officeDocument/2006/relationships/image" Target="../media/image-5-7.png"/><Relationship Id="rId12" Type="http://schemas.openxmlformats.org/officeDocument/2006/relationships/image" Target="../media/image-7-12.png"/><Relationship Id="rId13" Type="http://schemas.openxmlformats.org/officeDocument/2006/relationships/image" Target="../media/image-2-3.png"/><Relationship Id="rId14" Type="http://schemas.openxmlformats.org/officeDocument/2006/relationships/image" Target="../media/image-3-12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2-6.png"/><Relationship Id="rId3" Type="http://schemas.openxmlformats.org/officeDocument/2006/relationships/image" Target="../media/image-7-8.png"/><Relationship Id="rId4" Type="http://schemas.openxmlformats.org/officeDocument/2006/relationships/image" Target="../media/image-1-2.png"/><Relationship Id="rId5" Type="http://schemas.openxmlformats.org/officeDocument/2006/relationships/image" Target="../media/image-1-9.png"/><Relationship Id="rId6" Type="http://schemas.openxmlformats.org/officeDocument/2006/relationships/image" Target="../media/image-1-8.png"/><Relationship Id="rId7" Type="http://schemas.openxmlformats.org/officeDocument/2006/relationships/image" Target="../media/image-8-1.png"/><Relationship Id="rId8" Type="http://schemas.openxmlformats.org/officeDocument/2006/relationships/image" Target="../media/image-6-9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4.png"/><Relationship Id="rId2" Type="http://schemas.openxmlformats.org/officeDocument/2006/relationships/image" Target="../media/image-3-9.png"/><Relationship Id="rId3" Type="http://schemas.openxmlformats.org/officeDocument/2006/relationships/image" Target="../media/image-3-9.png"/><Relationship Id="rId4" Type="http://schemas.openxmlformats.org/officeDocument/2006/relationships/image" Target="../media/image-3-9.png"/><Relationship Id="rId5" Type="http://schemas.openxmlformats.org/officeDocument/2006/relationships/image" Target="../media/image-1-2.png"/><Relationship Id="rId6" Type="http://schemas.openxmlformats.org/officeDocument/2006/relationships/image" Target="../media/image-1-2.png"/><Relationship Id="rId7" Type="http://schemas.openxmlformats.org/officeDocument/2006/relationships/image" Target="../media/image-6-11.png"/><Relationship Id="rId8" Type="http://schemas.openxmlformats.org/officeDocument/2006/relationships/image" Target="../media/image-6-11.png"/><Relationship Id="rId9" Type="http://schemas.openxmlformats.org/officeDocument/2006/relationships/image" Target="../media/image-3-12.png"/><Relationship Id="rId10" Type="http://schemas.openxmlformats.org/officeDocument/2006/relationships/image" Target="../media/image-3-12.png"/><Relationship Id="rId11" Type="http://schemas.openxmlformats.org/officeDocument/2006/relationships/image" Target="../media/image-9-11.png"/><Relationship Id="rId12" Type="http://schemas.openxmlformats.org/officeDocument/2006/relationships/image" Target="../media/image-9-11.png"/><Relationship Id="rId13" Type="http://schemas.openxmlformats.org/officeDocument/2006/relationships/image" Target="../media/image-6-14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2-10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5.png"/><Relationship Id="rId2" Type="http://schemas.openxmlformats.org/officeDocument/2006/relationships/image" Target="../media/image-3-15.png"/><Relationship Id="rId3" Type="http://schemas.openxmlformats.org/officeDocument/2006/relationships/image" Target="../media/image-3-15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8.png"/><Relationship Id="rId2" Type="http://schemas.openxmlformats.org/officeDocument/2006/relationships/image" Target="../media/image-12-2.png"/><Relationship Id="rId3" Type="http://schemas.openxmlformats.org/officeDocument/2006/relationships/image" Target="../media/image-3-5.png"/><Relationship Id="rId4" Type="http://schemas.openxmlformats.org/officeDocument/2006/relationships/image" Target="../media/image-3-5.png"/><Relationship Id="rId5" Type="http://schemas.openxmlformats.org/officeDocument/2006/relationships/image" Target="../media/image-12-5.png"/><Relationship Id="rId6" Type="http://schemas.openxmlformats.org/officeDocument/2006/relationships/image" Target="../media/image-12-5.png"/><Relationship Id="rId7" Type="http://schemas.openxmlformats.org/officeDocument/2006/relationships/image" Target="../media/image-4-3.png"/><Relationship Id="rId8" Type="http://schemas.openxmlformats.org/officeDocument/2006/relationships/image" Target="../media/image-4-3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2-8.png"/><Relationship Id="rId3" Type="http://schemas.openxmlformats.org/officeDocument/2006/relationships/image" Target="../media/image-13-1.png"/><Relationship Id="rId4" Type="http://schemas.openxmlformats.org/officeDocument/2006/relationships/image" Target="../media/image-6-8.png"/><Relationship Id="rId5" Type="http://schemas.openxmlformats.org/officeDocument/2006/relationships/image" Target="../media/image-3-9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9-11.png"/><Relationship Id="rId5" Type="http://schemas.openxmlformats.org/officeDocument/2006/relationships/image" Target="../media/image-1-8.png"/><Relationship Id="rId6" Type="http://schemas.openxmlformats.org/officeDocument/2006/relationships/image" Target="../media/image-3-5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4.png"/><Relationship Id="rId2" Type="http://schemas.openxmlformats.org/officeDocument/2006/relationships/image" Target="../media/image-1-9.png"/><Relationship Id="rId3" Type="http://schemas.openxmlformats.org/officeDocument/2006/relationships/image" Target="../media/image-15-3.png"/><Relationship Id="rId4" Type="http://schemas.openxmlformats.org/officeDocument/2006/relationships/image" Target="../media/image-7-8.png"/><Relationship Id="rId5" Type="http://schemas.openxmlformats.org/officeDocument/2006/relationships/image" Target="../media/image-5-2.png"/><Relationship Id="rId6" Type="http://schemas.openxmlformats.org/officeDocument/2006/relationships/image" Target="../media/image-2-3.png"/><Relationship Id="rId7" Type="http://schemas.openxmlformats.org/officeDocument/2006/relationships/image" Target="../media/image-6-14.png"/><Relationship Id="rId8" Type="http://schemas.openxmlformats.org/officeDocument/2006/relationships/image" Target="../media/image-1-11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1097280" y="365760"/>
            <a:ext cx="99943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MISSILE COMMAND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3809848" y="1691640"/>
            <a:ext cx="4572000" cy="420624"/>
          </a:xfrm>
          <a:prstGeom prst="rect">
            <a:avLst/>
          </a:prstGeom>
          <a:solidFill>
            <a:srgbClr val="0A0C1C"/>
          </a:solidFill>
          <a:ln w="19050">
            <a:solidFill>
              <a:srgbClr val="5A7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632808" y="16916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REMAKE DO JOGO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974440" y="1874520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84168" y="1874520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93896" y="1874520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24648" y="1874520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34376" y="1874520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44104" y="1874520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pic>
        <p:nvPicPr>
          <p:cNvPr id="11" name="Image 0" descr="Ícone inva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367049"/>
            <a:ext cx="594360" cy="432262"/>
          </a:xfrm>
          <a:prstGeom prst="rect">
            <a:avLst/>
          </a:prstGeom>
        </p:spPr>
      </p:pic>
      <p:pic>
        <p:nvPicPr>
          <p:cNvPr id="12" name="Image 1" descr="Ícone miss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978" y="2286000"/>
            <a:ext cx="270164" cy="594360"/>
          </a:xfrm>
          <a:prstGeom prst="rect">
            <a:avLst/>
          </a:prstGeom>
        </p:spPr>
      </p:pic>
      <p:pic>
        <p:nvPicPr>
          <p:cNvPr id="13" name="Image 2" descr="Ícone c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409825"/>
            <a:ext cx="594360" cy="346710"/>
          </a:xfrm>
          <a:prstGeom prst="rect">
            <a:avLst/>
          </a:prstGeom>
        </p:spPr>
      </p:pic>
      <p:pic>
        <p:nvPicPr>
          <p:cNvPr id="14" name="Image 3" descr="Ícone rock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594" y="2286000"/>
            <a:ext cx="416052" cy="594360"/>
          </a:xfrm>
          <a:prstGeom prst="rect">
            <a:avLst/>
          </a:prstGeom>
        </p:spPr>
      </p:pic>
      <p:pic>
        <p:nvPicPr>
          <p:cNvPr id="15" name="Image 4" descr="Ícone asteroi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2319020"/>
            <a:ext cx="594360" cy="528320"/>
          </a:xfrm>
          <a:prstGeom prst="rect">
            <a:avLst/>
          </a:prstGeom>
        </p:spPr>
      </p:pic>
      <p:pic>
        <p:nvPicPr>
          <p:cNvPr id="16" name="Image 5" descr="Ícone miss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3098" y="2286000"/>
            <a:ext cx="270164" cy="594360"/>
          </a:xfrm>
          <a:prstGeom prst="rect">
            <a:avLst/>
          </a:prstGeom>
        </p:spPr>
      </p:pic>
      <p:pic>
        <p:nvPicPr>
          <p:cNvPr id="17" name="Image 6" descr="Ícone invad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367049"/>
            <a:ext cx="594360" cy="432262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548640" y="3063240"/>
            <a:ext cx="5486400" cy="320040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19" name="Shape 10"/>
          <p:cNvSpPr/>
          <p:nvPr/>
        </p:nvSpPr>
        <p:spPr>
          <a:xfrm>
            <a:off x="548640" y="3063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0" name="Shape 11"/>
          <p:cNvSpPr/>
          <p:nvPr/>
        </p:nvSpPr>
        <p:spPr>
          <a:xfrm>
            <a:off x="5943600" y="3063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548640" y="617220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5943600" y="617220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731520" y="3209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24" name="Image 7" descr="Ícone gamepa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649" y="3319638"/>
            <a:ext cx="245791" cy="16386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234440" y="317296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PRINCIPAIS INFORMAÇÕES</a:t>
            </a:r>
            <a:endParaRPr lang="en-US" sz="1300" dirty="0"/>
          </a:p>
        </p:txBody>
      </p:sp>
      <p:sp>
        <p:nvSpPr>
          <p:cNvPr id="26" name="Shape 16"/>
          <p:cNvSpPr/>
          <p:nvPr/>
        </p:nvSpPr>
        <p:spPr>
          <a:xfrm>
            <a:off x="777240" y="3767328"/>
            <a:ext cx="548640" cy="548640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27" name="Image 8" descr="Ícone invad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995" y="3913965"/>
            <a:ext cx="351130" cy="255367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1371600" y="3767328"/>
            <a:ext cx="27432" cy="5486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29" name="Text 18"/>
          <p:cNvSpPr txBox="1"/>
          <p:nvPr/>
        </p:nvSpPr>
        <p:spPr>
          <a:xfrm>
            <a:off x="1554480" y="3703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Original: Shoot 'em Up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Remake: Shooter Survivor</a:t>
            </a:r>
            <a:endParaRPr lang="en-US" sz="1800" dirty="0"/>
          </a:p>
        </p:txBody>
      </p:sp>
      <p:sp>
        <p:nvSpPr>
          <p:cNvPr id="30" name="Shape 19"/>
          <p:cNvSpPr/>
          <p:nvPr/>
        </p:nvSpPr>
        <p:spPr>
          <a:xfrm>
            <a:off x="777240" y="4590288"/>
            <a:ext cx="548640" cy="548640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31" name="Image 9" descr="Ícone joystick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877" y="4689043"/>
            <a:ext cx="255367" cy="351130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1371600" y="4590288"/>
            <a:ext cx="27432" cy="5486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33" name="Text 21"/>
          <p:cNvSpPr txBox="1"/>
          <p:nvPr/>
        </p:nvSpPr>
        <p:spPr>
          <a:xfrm>
            <a:off x="1554480" y="45262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Plataforma: PC / Web</a:t>
            </a:r>
            <a:endParaRPr lang="en-US" sz="1800" dirty="0"/>
          </a:p>
        </p:txBody>
      </p:sp>
      <p:sp>
        <p:nvSpPr>
          <p:cNvPr id="34" name="Shape 22"/>
          <p:cNvSpPr/>
          <p:nvPr/>
        </p:nvSpPr>
        <p:spPr>
          <a:xfrm>
            <a:off x="777240" y="5413248"/>
            <a:ext cx="548640" cy="548640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35" name="Image 10" descr="Ícone peopl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5995" y="5564673"/>
            <a:ext cx="351130" cy="245791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1371600" y="5413248"/>
            <a:ext cx="27432" cy="5486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37" name="Text 24"/>
          <p:cNvSpPr txBox="1"/>
          <p:nvPr/>
        </p:nvSpPr>
        <p:spPr>
          <a:xfrm>
            <a:off x="1554480" y="53492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Ivan Lopes da Silva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Matheus Thiago Lima Assad</a:t>
            </a:r>
            <a:endParaRPr lang="en-US" sz="1800" dirty="0"/>
          </a:p>
        </p:txBody>
      </p:sp>
      <p:sp>
        <p:nvSpPr>
          <p:cNvPr id="38" name="Shape 25"/>
          <p:cNvSpPr/>
          <p:nvPr/>
        </p:nvSpPr>
        <p:spPr>
          <a:xfrm>
            <a:off x="6217920" y="3063240"/>
            <a:ext cx="5425135" cy="3200400"/>
          </a:xfrm>
          <a:prstGeom prst="rect">
            <a:avLst/>
          </a:prstGeom>
          <a:solidFill>
            <a:srgbClr val="0A0B11"/>
          </a:solidFill>
          <a:ln w="25400">
            <a:solidFill>
              <a:srgbClr val="EF3B3B"/>
            </a:solidFill>
            <a:prstDash val="solid"/>
          </a:ln>
        </p:spPr>
      </p:sp>
      <p:sp>
        <p:nvSpPr>
          <p:cNvPr id="39" name="Shape 26"/>
          <p:cNvSpPr/>
          <p:nvPr/>
        </p:nvSpPr>
        <p:spPr>
          <a:xfrm>
            <a:off x="6217920" y="306324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40" name="Shape 27"/>
          <p:cNvSpPr/>
          <p:nvPr/>
        </p:nvSpPr>
        <p:spPr>
          <a:xfrm>
            <a:off x="11551615" y="306324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41" name="Shape 28"/>
          <p:cNvSpPr/>
          <p:nvPr/>
        </p:nvSpPr>
        <p:spPr>
          <a:xfrm>
            <a:off x="6217920" y="617220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42" name="Shape 29"/>
          <p:cNvSpPr/>
          <p:nvPr/>
        </p:nvSpPr>
        <p:spPr>
          <a:xfrm>
            <a:off x="11551615" y="617220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43" name="Shape 30"/>
          <p:cNvSpPr/>
          <p:nvPr/>
        </p:nvSpPr>
        <p:spPr>
          <a:xfrm>
            <a:off x="6400800" y="3209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EF3B3B"/>
            </a:solidFill>
            <a:prstDash val="solid"/>
          </a:ln>
        </p:spPr>
      </p:sp>
      <p:pic>
        <p:nvPicPr>
          <p:cNvPr id="44" name="Image 11" descr="Ícone pers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9929" y="3294035"/>
            <a:ext cx="245791" cy="215067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6903720" y="3172968"/>
            <a:ext cx="4556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APRESENTADO POR</a:t>
            </a:r>
            <a:endParaRPr lang="en-US" sz="1300" dirty="0"/>
          </a:p>
        </p:txBody>
      </p:sp>
      <p:sp>
        <p:nvSpPr>
          <p:cNvPr id="46" name="Shape 32"/>
          <p:cNvSpPr/>
          <p:nvPr/>
        </p:nvSpPr>
        <p:spPr>
          <a:xfrm>
            <a:off x="6446520" y="3703320"/>
            <a:ext cx="4965192" cy="1828800"/>
          </a:xfrm>
          <a:prstGeom prst="rect">
            <a:avLst/>
          </a:prstGeom>
          <a:solidFill>
            <a:srgbClr val="0A0B11"/>
          </a:solidFill>
          <a:ln w="22225">
            <a:solidFill>
              <a:srgbClr val="EF3B3B"/>
            </a:solidFill>
            <a:prstDash val="dash"/>
          </a:ln>
        </p:spPr>
      </p:sp>
      <p:pic>
        <p:nvPicPr>
          <p:cNvPr id="47" name="Image 12" descr="Ícone camera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09076" y="4061460"/>
            <a:ext cx="640080" cy="426720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6583680" y="4686300"/>
            <a:ext cx="4690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[FOTOS DA EQUIPE]</a:t>
            </a:r>
            <a:endParaRPr lang="en-US" sz="1400" dirty="0"/>
          </a:p>
        </p:txBody>
      </p:sp>
      <p:sp>
        <p:nvSpPr>
          <p:cNvPr id="49" name="Text 34"/>
          <p:cNvSpPr txBox="1"/>
          <p:nvPr/>
        </p:nvSpPr>
        <p:spPr>
          <a:xfrm>
            <a:off x="6446520" y="5669280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Turma: [Sua Turma]</a:t>
            </a:r>
            <a:endParaRPr lang="en-US" sz="1800" dirty="0"/>
          </a:p>
        </p:txBody>
      </p:sp>
      <p:sp>
        <p:nvSpPr>
          <p:cNvPr id="50" name="Text 35"/>
          <p:cNvSpPr txBox="1"/>
          <p:nvPr/>
        </p:nvSpPr>
        <p:spPr>
          <a:xfrm>
            <a:off x="3566160" y="63825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[SLIDE 1 / 15 · APRESENTAÇÃO ACADÊMICA]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1417320" y="384048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 EQUIPE</a:t>
            </a:r>
            <a:endParaRPr lang="en-US" sz="2400" dirty="0"/>
          </a:p>
        </p:txBody>
      </p:sp>
      <p:pic>
        <p:nvPicPr>
          <p:cNvPr id="3" name="Image 0" descr="Ícone peo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57784"/>
            <a:ext cx="548640" cy="384048"/>
          </a:xfrm>
          <a:prstGeom prst="rect">
            <a:avLst/>
          </a:prstGeom>
        </p:spPr>
      </p:pic>
      <p:pic>
        <p:nvPicPr>
          <p:cNvPr id="4" name="Image 1" descr="Ícone peop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557784"/>
            <a:ext cx="548640" cy="38404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072488" y="1207008"/>
            <a:ext cx="8046720" cy="420624"/>
          </a:xfrm>
          <a:prstGeom prst="rect">
            <a:avLst/>
          </a:prstGeom>
          <a:solidFill>
            <a:srgbClr val="0A0C1C"/>
          </a:solidFill>
          <a:ln w="19050">
            <a:solidFill>
              <a:srgbClr val="5A73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895448" y="120700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CONHEÇA OS INTEGRANTES DO PROJETO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2237080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34680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45653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66200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77173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881464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66160" y="63825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[SLIDE 2 / 15 · APRESENTAÇÃO ACADÊMICA]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1965960"/>
            <a:ext cx="2057400" cy="420624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196596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514600" y="196596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608076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514600" y="608076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3232" y="2167128"/>
            <a:ext cx="1728216" cy="2148840"/>
          </a:xfrm>
          <a:prstGeom prst="rect">
            <a:avLst/>
          </a:prstGeom>
          <a:solidFill>
            <a:srgbClr val="0A0B11"/>
          </a:solidFill>
          <a:ln w="22225">
            <a:solidFill>
              <a:srgbClr val="5A73F0"/>
            </a:solidFill>
            <a:prstDash val="dash"/>
          </a:ln>
        </p:spPr>
      </p:sp>
      <p:pic>
        <p:nvPicPr>
          <p:cNvPr id="20" name="Image 2" descr="Ícone inva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616015"/>
            <a:ext cx="777240" cy="56526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50392" y="3378708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[FOTO]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4480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MATHEUS</a:t>
            </a:r>
            <a:endParaRPr lang="en-US" sz="1600" dirty="0"/>
          </a:p>
        </p:txBody>
      </p:sp>
      <p:pic>
        <p:nvPicPr>
          <p:cNvPr id="23" name="Image 3" descr="Ícone joysti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336" y="4983480"/>
            <a:ext cx="266007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40080" y="53949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3B3B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GAME DESIGN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2807208" y="1965960"/>
            <a:ext cx="2057400" cy="4206240"/>
          </a:xfrm>
          <a:prstGeom prst="rect">
            <a:avLst/>
          </a:prstGeom>
          <a:solidFill>
            <a:srgbClr val="0A0B11"/>
          </a:solidFill>
          <a:ln w="25400">
            <a:solidFill>
              <a:srgbClr val="EF3B3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807208" y="196596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73168" y="196596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807208" y="608076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773168" y="608076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2971800" y="2167128"/>
            <a:ext cx="1728216" cy="2148840"/>
          </a:xfrm>
          <a:prstGeom prst="rect">
            <a:avLst/>
          </a:prstGeom>
          <a:solidFill>
            <a:srgbClr val="0A0B11"/>
          </a:solidFill>
          <a:ln w="22225">
            <a:solidFill>
              <a:srgbClr val="EF3B3B"/>
            </a:solidFill>
            <a:prstDash val="dash"/>
          </a:ln>
        </p:spPr>
      </p:sp>
      <p:pic>
        <p:nvPicPr>
          <p:cNvPr id="31" name="Image 4" descr="Ícone invad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2616015"/>
            <a:ext cx="777240" cy="56526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3108960" y="3378708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[FOTO]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2898648" y="4480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MATHEUS</a:t>
            </a:r>
            <a:endParaRPr lang="en-US" sz="1600" dirty="0"/>
          </a:p>
        </p:txBody>
      </p:sp>
      <p:pic>
        <p:nvPicPr>
          <p:cNvPr id="34" name="Image 5" descr="Ícone bru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3028" y="5016731"/>
            <a:ext cx="365760" cy="29925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2898648" y="53949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3B3B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ARTE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5065776" y="1965960"/>
            <a:ext cx="2057400" cy="4206240"/>
          </a:xfrm>
          <a:prstGeom prst="rect">
            <a:avLst/>
          </a:prstGeom>
          <a:solidFill>
            <a:srgbClr val="0A0B11"/>
          </a:solidFill>
          <a:ln w="25400">
            <a:solidFill>
              <a:srgbClr val="5A73F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065776" y="196596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7031736" y="196596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5065776" y="608076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031736" y="608076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5230368" y="2167128"/>
            <a:ext cx="1728216" cy="2148840"/>
          </a:xfrm>
          <a:prstGeom prst="rect">
            <a:avLst/>
          </a:prstGeom>
          <a:solidFill>
            <a:srgbClr val="0A0B11"/>
          </a:solidFill>
          <a:ln w="22225">
            <a:solidFill>
              <a:srgbClr val="B4F23C"/>
            </a:solidFill>
            <a:prstDash val="dash"/>
          </a:ln>
        </p:spPr>
      </p:sp>
      <p:pic>
        <p:nvPicPr>
          <p:cNvPr id="42" name="Image 6" descr="Ícone invad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5856" y="2616015"/>
            <a:ext cx="777240" cy="56526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5367528" y="3378708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[FOTO]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5157216" y="4480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IVAN</a:t>
            </a:r>
            <a:endParaRPr lang="en-US" sz="1600" dirty="0"/>
          </a:p>
        </p:txBody>
      </p:sp>
      <p:pic>
        <p:nvPicPr>
          <p:cNvPr id="45" name="Image 7" descr="Ícone cod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1596" y="5081016"/>
            <a:ext cx="365760" cy="17068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157216" y="53949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3B3B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PROGRAMAÇÃO</a:t>
            </a:r>
            <a:endParaRPr lang="en-US" sz="1500" dirty="0"/>
          </a:p>
        </p:txBody>
      </p:sp>
      <p:sp>
        <p:nvSpPr>
          <p:cNvPr id="47" name="Shape 37"/>
          <p:cNvSpPr/>
          <p:nvPr/>
        </p:nvSpPr>
        <p:spPr>
          <a:xfrm>
            <a:off x="7324344" y="1965960"/>
            <a:ext cx="2057400" cy="420624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7324344" y="196596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9290304" y="196596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7324344" y="608076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9290304" y="608076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7488936" y="2167128"/>
            <a:ext cx="1728216" cy="2148840"/>
          </a:xfrm>
          <a:prstGeom prst="rect">
            <a:avLst/>
          </a:prstGeom>
          <a:solidFill>
            <a:srgbClr val="0A0B11"/>
          </a:solidFill>
          <a:ln w="22225">
            <a:solidFill>
              <a:srgbClr val="5A73F0"/>
            </a:solidFill>
            <a:prstDash val="dash"/>
          </a:ln>
        </p:spPr>
      </p:sp>
      <p:pic>
        <p:nvPicPr>
          <p:cNvPr id="53" name="Image 8" descr="Ícone invad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4424" y="2616015"/>
            <a:ext cx="777240" cy="565265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7626096" y="3378708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[FOTO]</a:t>
            </a:r>
            <a:endParaRPr lang="en-US" sz="1400" dirty="0"/>
          </a:p>
        </p:txBody>
      </p:sp>
      <p:sp>
        <p:nvSpPr>
          <p:cNvPr id="55" name="Text 44"/>
          <p:cNvSpPr txBox="1"/>
          <p:nvPr/>
        </p:nvSpPr>
        <p:spPr>
          <a:xfrm>
            <a:off x="7415784" y="4480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IVAN</a:t>
            </a:r>
            <a:endParaRPr lang="en-US" sz="1600" dirty="0"/>
          </a:p>
        </p:txBody>
      </p:sp>
      <p:pic>
        <p:nvPicPr>
          <p:cNvPr id="56" name="Image 9" descr="Ícone wirefram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0164" y="5016731"/>
            <a:ext cx="365760" cy="299258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7415784" y="53949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3B3B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UX/UI</a:t>
            </a:r>
            <a:endParaRPr lang="en-US" sz="1500" dirty="0"/>
          </a:p>
        </p:txBody>
      </p:sp>
      <p:sp>
        <p:nvSpPr>
          <p:cNvPr id="58" name="Shape 46"/>
          <p:cNvSpPr/>
          <p:nvPr/>
        </p:nvSpPr>
        <p:spPr>
          <a:xfrm>
            <a:off x="9582912" y="1965960"/>
            <a:ext cx="2057400" cy="4206240"/>
          </a:xfrm>
          <a:prstGeom prst="rect">
            <a:avLst/>
          </a:prstGeom>
          <a:solidFill>
            <a:srgbClr val="0A0B11"/>
          </a:solidFill>
          <a:ln w="25400">
            <a:solidFill>
              <a:srgbClr val="EF3B3B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9582912" y="196596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>
            <a:off x="11548872" y="196596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9582912" y="608076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62" name="Shape 50"/>
          <p:cNvSpPr/>
          <p:nvPr/>
        </p:nvSpPr>
        <p:spPr>
          <a:xfrm>
            <a:off x="11548872" y="608076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9747504" y="2167128"/>
            <a:ext cx="1728216" cy="2148840"/>
          </a:xfrm>
          <a:prstGeom prst="rect">
            <a:avLst/>
          </a:prstGeom>
          <a:solidFill>
            <a:srgbClr val="0A0B11"/>
          </a:solidFill>
          <a:ln w="22225">
            <a:solidFill>
              <a:srgbClr val="EF3B3B"/>
            </a:solidFill>
            <a:prstDash val="dash"/>
          </a:ln>
        </p:spPr>
      </p:sp>
      <p:pic>
        <p:nvPicPr>
          <p:cNvPr id="64" name="Image 10" descr="Ícone invade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22992" y="2616015"/>
            <a:ext cx="777240" cy="565265"/>
          </a:xfrm>
          <a:prstGeom prst="rect">
            <a:avLst/>
          </a:prstGeom>
        </p:spPr>
      </p:pic>
      <p:sp>
        <p:nvSpPr>
          <p:cNvPr id="65" name="Text 52"/>
          <p:cNvSpPr txBox="1"/>
          <p:nvPr/>
        </p:nvSpPr>
        <p:spPr>
          <a:xfrm>
            <a:off x="9884664" y="3378708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[FOTO]</a:t>
            </a:r>
            <a:endParaRPr lang="en-US" sz="1400" dirty="0"/>
          </a:p>
        </p:txBody>
      </p:sp>
      <p:sp>
        <p:nvSpPr>
          <p:cNvPr id="66" name="Text 53"/>
          <p:cNvSpPr txBox="1"/>
          <p:nvPr/>
        </p:nvSpPr>
        <p:spPr>
          <a:xfrm>
            <a:off x="9674352" y="4480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IVAN</a:t>
            </a:r>
            <a:endParaRPr lang="en-US" sz="1600" dirty="0"/>
          </a:p>
        </p:txBody>
      </p:sp>
      <p:pic>
        <p:nvPicPr>
          <p:cNvPr id="67" name="Image 11" descr="Ícone folde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8732" y="5044440"/>
            <a:ext cx="365760" cy="243840"/>
          </a:xfrm>
          <a:prstGeom prst="rect">
            <a:avLst/>
          </a:prstGeom>
        </p:spPr>
      </p:pic>
      <p:sp>
        <p:nvSpPr>
          <p:cNvPr id="68" name="Text 54"/>
          <p:cNvSpPr txBox="1"/>
          <p:nvPr/>
        </p:nvSpPr>
        <p:spPr>
          <a:xfrm>
            <a:off x="9674352" y="53949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3B3B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ORGANIZAÇÃO / GDD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1417320" y="384048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1. TECNOLOGIAS E FERRAMENTAS</a:t>
            </a:r>
            <a:endParaRPr lang="en-US" sz="2400" dirty="0"/>
          </a:p>
        </p:txBody>
      </p:sp>
      <p:pic>
        <p:nvPicPr>
          <p:cNvPr id="3" name="Image 0" descr="Ícone g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6448"/>
            <a:ext cx="548640" cy="426720"/>
          </a:xfrm>
          <a:prstGeom prst="rect">
            <a:avLst/>
          </a:prstGeom>
        </p:spPr>
      </p:pic>
      <p:pic>
        <p:nvPicPr>
          <p:cNvPr id="4" name="Image 1" descr="Ícone ge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536448"/>
            <a:ext cx="548640" cy="426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438248" y="1207008"/>
            <a:ext cx="7315200" cy="420624"/>
          </a:xfrm>
          <a:prstGeom prst="rect">
            <a:avLst/>
          </a:prstGeom>
          <a:solidFill>
            <a:srgbClr val="0A0C1C"/>
          </a:solidFill>
          <a:ln w="19050">
            <a:solidFill>
              <a:srgbClr val="5A73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3261208" y="120700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RECURSOS UTILIZADOS NO REMAKE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2602840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71256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82229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29624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40597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515704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66160" y="63825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[SLIDE 3 / 15 · APRESENTAÇÃO ACADÊMICA]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1920240"/>
            <a:ext cx="3566160" cy="210312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023360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393192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023360" y="393192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20" name="Image 2" descr="Ícone inva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49" y="2169190"/>
            <a:ext cx="245791" cy="17875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34440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ENGINE</a:t>
            </a:r>
            <a:endParaRPr lang="en-US" sz="1300" dirty="0"/>
          </a:p>
        </p:txBody>
      </p:sp>
      <p:pic>
        <p:nvPicPr>
          <p:cNvPr id="22" name="Image 3" descr="Ícone joysti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49" y="2697480"/>
            <a:ext cx="239407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80160" y="26517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Unity 6 (C#)</a:t>
            </a:r>
            <a:endParaRPr lang="en-US" sz="1600" dirty="0"/>
          </a:p>
        </p:txBody>
      </p:sp>
      <p:pic>
        <p:nvPicPr>
          <p:cNvPr id="24" name="Image 4" descr="Ícone curs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3118104"/>
            <a:ext cx="246888" cy="32918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80160" y="30723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GitHub Desktop</a:t>
            </a:r>
            <a:endParaRPr lang="en-US" sz="1600" dirty="0"/>
          </a:p>
        </p:txBody>
      </p:sp>
      <p:pic>
        <p:nvPicPr>
          <p:cNvPr id="26" name="Image 5" descr="Ícone robo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553691"/>
            <a:ext cx="329184" cy="29925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280160" y="34930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4312768" y="1920240"/>
            <a:ext cx="3566160" cy="2103120"/>
          </a:xfrm>
          <a:prstGeom prst="rect">
            <a:avLst/>
          </a:prstGeom>
          <a:solidFill>
            <a:srgbClr val="0A0B11"/>
          </a:solidFill>
          <a:ln w="25400">
            <a:solidFill>
              <a:srgbClr val="EF3B3B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312768" y="192024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787488" y="192024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4312768" y="393192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787488" y="393192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4495648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EF3B3B"/>
            </a:solidFill>
            <a:prstDash val="solid"/>
          </a:ln>
        </p:spPr>
      </p:sp>
      <p:pic>
        <p:nvPicPr>
          <p:cNvPr id="34" name="Image 6" descr="Ícone brus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4776" y="2158017"/>
            <a:ext cx="245791" cy="201101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998568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ARTE</a:t>
            </a:r>
            <a:endParaRPr lang="en-US" sz="1300" dirty="0"/>
          </a:p>
        </p:txBody>
      </p:sp>
      <p:pic>
        <p:nvPicPr>
          <p:cNvPr id="36" name="Image 7" descr="Ícone sta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7088" y="2697480"/>
            <a:ext cx="329184" cy="329184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044288" y="26517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Pixelorama</a:t>
            </a:r>
            <a:endParaRPr lang="en-US" sz="1600" dirty="0"/>
          </a:p>
        </p:txBody>
      </p:sp>
      <p:pic>
        <p:nvPicPr>
          <p:cNvPr id="38" name="Image 8" descr="Ícone city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7088" y="3186684"/>
            <a:ext cx="329184" cy="192024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5044288" y="30723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Pixel art 32x32</a:t>
            </a:r>
            <a:endParaRPr lang="en-US" sz="1600" dirty="0"/>
          </a:p>
        </p:txBody>
      </p:sp>
      <p:pic>
        <p:nvPicPr>
          <p:cNvPr id="40" name="Image 9" descr="Ícone gea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7088" y="3575304"/>
            <a:ext cx="329184" cy="256032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5044288" y="34930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Animator do Unity</a:t>
            </a:r>
            <a:endParaRPr lang="en-US" sz="1600" dirty="0"/>
          </a:p>
        </p:txBody>
      </p:sp>
      <p:sp>
        <p:nvSpPr>
          <p:cNvPr id="42" name="Shape 30"/>
          <p:cNvSpPr/>
          <p:nvPr/>
        </p:nvSpPr>
        <p:spPr>
          <a:xfrm>
            <a:off x="8076895" y="1920240"/>
            <a:ext cx="3566160" cy="2103120"/>
          </a:xfrm>
          <a:prstGeom prst="rect">
            <a:avLst/>
          </a:prstGeom>
          <a:solidFill>
            <a:srgbClr val="0A0B11"/>
          </a:solidFill>
          <a:ln w="25400">
            <a:solidFill>
              <a:srgbClr val="5A73F0"/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8076895" y="1920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11551615" y="1920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8076895" y="393192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11551615" y="393192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8259775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48" name="Image 10" descr="Ícone monito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8904" y="2135673"/>
            <a:ext cx="245791" cy="245791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8762695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SLIDES</a:t>
            </a:r>
            <a:endParaRPr lang="en-US" sz="1300" dirty="0"/>
          </a:p>
        </p:txBody>
      </p:sp>
      <p:pic>
        <p:nvPicPr>
          <p:cNvPr id="50" name="Image 11" descr="Ícone sta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1215" y="2697480"/>
            <a:ext cx="329184" cy="329184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8808415" y="26517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Canva</a:t>
            </a:r>
            <a:endParaRPr lang="en-US" sz="1600" dirty="0"/>
          </a:p>
        </p:txBody>
      </p:sp>
      <p:pic>
        <p:nvPicPr>
          <p:cNvPr id="52" name="Image 12" descr="Ícone book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1215" y="3188643"/>
            <a:ext cx="329184" cy="188105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8808415" y="30723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Google Slides</a:t>
            </a:r>
            <a:endParaRPr lang="en-US" sz="1600" dirty="0"/>
          </a:p>
        </p:txBody>
      </p:sp>
      <p:sp>
        <p:nvSpPr>
          <p:cNvPr id="54" name="Shape 39"/>
          <p:cNvSpPr/>
          <p:nvPr/>
        </p:nvSpPr>
        <p:spPr>
          <a:xfrm>
            <a:off x="548640" y="4206240"/>
            <a:ext cx="3566160" cy="2103120"/>
          </a:xfrm>
          <a:prstGeom prst="rect">
            <a:avLst/>
          </a:prstGeom>
          <a:solidFill>
            <a:srgbClr val="0A0B11"/>
          </a:solidFill>
          <a:ln w="25400">
            <a:solidFill>
              <a:srgbClr val="EF3B3B"/>
            </a:solidFill>
            <a:prstDash val="solid"/>
          </a:ln>
        </p:spPr>
      </p:sp>
      <p:sp>
        <p:nvSpPr>
          <p:cNvPr id="55" name="Shape 40"/>
          <p:cNvSpPr/>
          <p:nvPr/>
        </p:nvSpPr>
        <p:spPr>
          <a:xfrm>
            <a:off x="548640" y="420624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56" name="Shape 41"/>
          <p:cNvSpPr/>
          <p:nvPr/>
        </p:nvSpPr>
        <p:spPr>
          <a:xfrm>
            <a:off x="4023360" y="420624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548640" y="621792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4023360" y="621792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59" name="Shape 44"/>
          <p:cNvSpPr/>
          <p:nvPr/>
        </p:nvSpPr>
        <p:spPr>
          <a:xfrm>
            <a:off x="731520" y="4352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EF3B3B"/>
            </a:solidFill>
            <a:prstDash val="solid"/>
          </a:ln>
        </p:spPr>
      </p:sp>
      <p:pic>
        <p:nvPicPr>
          <p:cNvPr id="60" name="Image 13" descr="Ícone folder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649" y="4462638"/>
            <a:ext cx="245791" cy="163860"/>
          </a:xfrm>
          <a:prstGeom prst="rect">
            <a:avLst/>
          </a:prstGeom>
        </p:spPr>
      </p:pic>
      <p:sp>
        <p:nvSpPr>
          <p:cNvPr id="61" name="Text 45"/>
          <p:cNvSpPr txBox="1"/>
          <p:nvPr/>
        </p:nvSpPr>
        <p:spPr>
          <a:xfrm>
            <a:off x="1234440" y="4315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ORGANIZAÇÃO</a:t>
            </a:r>
            <a:endParaRPr lang="en-US" sz="1300" dirty="0"/>
          </a:p>
        </p:txBody>
      </p:sp>
      <p:pic>
        <p:nvPicPr>
          <p:cNvPr id="62" name="Image 14" descr="Ícone cursor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4108" y="4983480"/>
            <a:ext cx="246888" cy="329184"/>
          </a:xfrm>
          <a:prstGeom prst="rect">
            <a:avLst/>
          </a:prstGeom>
        </p:spPr>
      </p:pic>
      <p:sp>
        <p:nvSpPr>
          <p:cNvPr id="63" name="Text 46"/>
          <p:cNvSpPr txBox="1"/>
          <p:nvPr/>
        </p:nvSpPr>
        <p:spPr>
          <a:xfrm>
            <a:off x="1280160" y="49377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GitHub Desktop</a:t>
            </a:r>
            <a:endParaRPr lang="en-US" sz="1600" dirty="0"/>
          </a:p>
        </p:txBody>
      </p:sp>
      <p:pic>
        <p:nvPicPr>
          <p:cNvPr id="64" name="Image 15" descr="Ícone folder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2960" y="5458968"/>
            <a:ext cx="329184" cy="219456"/>
          </a:xfrm>
          <a:prstGeom prst="rect">
            <a:avLst/>
          </a:prstGeom>
        </p:spPr>
      </p:pic>
      <p:sp>
        <p:nvSpPr>
          <p:cNvPr id="65" name="Text 47"/>
          <p:cNvSpPr txBox="1"/>
          <p:nvPr/>
        </p:nvSpPr>
        <p:spPr>
          <a:xfrm>
            <a:off x="1280160" y="53583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Google Drive</a:t>
            </a:r>
            <a:endParaRPr lang="en-US" sz="1600" dirty="0"/>
          </a:p>
        </p:txBody>
      </p:sp>
      <p:pic>
        <p:nvPicPr>
          <p:cNvPr id="66" name="Image 16" descr="Ícone code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2960" y="5912510"/>
            <a:ext cx="329184" cy="153619"/>
          </a:xfrm>
          <a:prstGeom prst="rect">
            <a:avLst/>
          </a:prstGeom>
        </p:spPr>
      </p:pic>
      <p:sp>
        <p:nvSpPr>
          <p:cNvPr id="67" name="Text 48"/>
          <p:cNvSpPr txBox="1"/>
          <p:nvPr/>
        </p:nvSpPr>
        <p:spPr>
          <a:xfrm>
            <a:off x="1280160" y="57790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GitHub</a:t>
            </a:r>
            <a:endParaRPr lang="en-US" sz="1600" dirty="0"/>
          </a:p>
        </p:txBody>
      </p:sp>
      <p:sp>
        <p:nvSpPr>
          <p:cNvPr id="68" name="Shape 49"/>
          <p:cNvSpPr/>
          <p:nvPr/>
        </p:nvSpPr>
        <p:spPr>
          <a:xfrm>
            <a:off x="4312768" y="4206240"/>
            <a:ext cx="3566160" cy="2103120"/>
          </a:xfrm>
          <a:prstGeom prst="rect">
            <a:avLst/>
          </a:prstGeom>
          <a:solidFill>
            <a:srgbClr val="0A0B11"/>
          </a:solidFill>
          <a:ln w="25400">
            <a:solidFill>
              <a:srgbClr val="5A73F0"/>
            </a:solidFill>
            <a:prstDash val="solid"/>
          </a:ln>
        </p:spPr>
      </p:sp>
      <p:sp>
        <p:nvSpPr>
          <p:cNvPr id="69" name="Shape 50"/>
          <p:cNvSpPr/>
          <p:nvPr/>
        </p:nvSpPr>
        <p:spPr>
          <a:xfrm>
            <a:off x="4312768" y="4206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7787488" y="4206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4312768" y="621792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72" name="Shape 53"/>
          <p:cNvSpPr/>
          <p:nvPr/>
        </p:nvSpPr>
        <p:spPr>
          <a:xfrm>
            <a:off x="7787488" y="621792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73" name="Shape 54"/>
          <p:cNvSpPr/>
          <p:nvPr/>
        </p:nvSpPr>
        <p:spPr>
          <a:xfrm>
            <a:off x="4495648" y="4352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74" name="Image 17" descr="Ícone robot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64776" y="4432845"/>
            <a:ext cx="245791" cy="223446"/>
          </a:xfrm>
          <a:prstGeom prst="rect">
            <a:avLst/>
          </a:prstGeom>
        </p:spPr>
      </p:pic>
      <p:sp>
        <p:nvSpPr>
          <p:cNvPr id="75" name="Text 55"/>
          <p:cNvSpPr txBox="1"/>
          <p:nvPr/>
        </p:nvSpPr>
        <p:spPr>
          <a:xfrm>
            <a:off x="4998568" y="4315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FERRAMENTAS DE IA</a:t>
            </a:r>
            <a:endParaRPr lang="en-US" sz="1300" dirty="0"/>
          </a:p>
        </p:txBody>
      </p:sp>
      <p:pic>
        <p:nvPicPr>
          <p:cNvPr id="76" name="Image 18" descr="Ícone chat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87088" y="5043332"/>
            <a:ext cx="329184" cy="209481"/>
          </a:xfrm>
          <a:prstGeom prst="rect">
            <a:avLst/>
          </a:prstGeom>
        </p:spPr>
      </p:pic>
      <p:sp>
        <p:nvSpPr>
          <p:cNvPr id="77" name="Text 56"/>
          <p:cNvSpPr txBox="1"/>
          <p:nvPr/>
        </p:nvSpPr>
        <p:spPr>
          <a:xfrm>
            <a:off x="5044288" y="49377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Claude</a:t>
            </a:r>
            <a:endParaRPr lang="en-US" sz="1600" dirty="0"/>
          </a:p>
        </p:txBody>
      </p:sp>
      <p:pic>
        <p:nvPicPr>
          <p:cNvPr id="78" name="Image 19" descr="Ícone chat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87088" y="5463956"/>
            <a:ext cx="329184" cy="209481"/>
          </a:xfrm>
          <a:prstGeom prst="rect">
            <a:avLst/>
          </a:prstGeom>
        </p:spPr>
      </p:pic>
      <p:sp>
        <p:nvSpPr>
          <p:cNvPr id="79" name="Text 57"/>
          <p:cNvSpPr txBox="1"/>
          <p:nvPr/>
        </p:nvSpPr>
        <p:spPr>
          <a:xfrm>
            <a:off x="5044288" y="53583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GPT</a:t>
            </a:r>
            <a:endParaRPr lang="en-US" sz="1600" dirty="0"/>
          </a:p>
        </p:txBody>
      </p:sp>
      <p:pic>
        <p:nvPicPr>
          <p:cNvPr id="80" name="Image 20" descr="Ícone robot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87088" y="5839691"/>
            <a:ext cx="329184" cy="299258"/>
          </a:xfrm>
          <a:prstGeom prst="rect">
            <a:avLst/>
          </a:prstGeom>
        </p:spPr>
      </p:pic>
      <p:sp>
        <p:nvSpPr>
          <p:cNvPr id="81" name="Text 58"/>
          <p:cNvSpPr txBox="1"/>
          <p:nvPr/>
        </p:nvSpPr>
        <p:spPr>
          <a:xfrm>
            <a:off x="5044288" y="57790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82" name="Shape 59"/>
          <p:cNvSpPr/>
          <p:nvPr/>
        </p:nvSpPr>
        <p:spPr>
          <a:xfrm>
            <a:off x="8076895" y="4206240"/>
            <a:ext cx="3566160" cy="2103120"/>
          </a:xfrm>
          <a:prstGeom prst="rect">
            <a:avLst/>
          </a:prstGeom>
          <a:solidFill>
            <a:srgbClr val="0A0B11"/>
          </a:solidFill>
          <a:ln w="22225">
            <a:solidFill>
              <a:srgbClr val="B4F23C"/>
            </a:solidFill>
            <a:prstDash val="dash"/>
          </a:ln>
        </p:spPr>
      </p:sp>
      <p:pic>
        <p:nvPicPr>
          <p:cNvPr id="83" name="Image 21" descr="Ícone rocket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71939" y="4503420"/>
            <a:ext cx="576072" cy="822960"/>
          </a:xfrm>
          <a:prstGeom prst="rect">
            <a:avLst/>
          </a:prstGeom>
        </p:spPr>
      </p:pic>
      <p:sp>
        <p:nvSpPr>
          <p:cNvPr id="84" name="Text 60"/>
          <p:cNvSpPr txBox="1"/>
          <p:nvPr/>
        </p:nvSpPr>
        <p:spPr>
          <a:xfrm>
            <a:off x="8214055" y="54178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[LOGOS DOS SOFTWARES]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1417320" y="384048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2.1 CONCEITO DO JOGO ORIGINAL</a:t>
            </a:r>
            <a:endParaRPr lang="en-US" sz="2400" dirty="0"/>
          </a:p>
        </p:txBody>
      </p:sp>
      <p:pic>
        <p:nvPicPr>
          <p:cNvPr id="3" name="Image 0" descr="Ícone joyst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335" y="475488"/>
            <a:ext cx="399011" cy="548640"/>
          </a:xfrm>
          <a:prstGeom prst="rect">
            <a:avLst/>
          </a:prstGeom>
        </p:spPr>
      </p:pic>
      <p:pic>
        <p:nvPicPr>
          <p:cNvPr id="4" name="Image 1" descr="Ícone joyst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3607" y="475488"/>
            <a:ext cx="399011" cy="5486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529688" y="1207008"/>
            <a:ext cx="7132320" cy="420624"/>
          </a:xfrm>
          <a:prstGeom prst="rect">
            <a:avLst/>
          </a:prstGeom>
          <a:solidFill>
            <a:srgbClr val="0A0C1C"/>
          </a:solidFill>
          <a:ln w="19050">
            <a:solidFill>
              <a:srgbClr val="5A73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3352648" y="120700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MISSILE COMMAND · ATARI 2600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2694280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80400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91373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20480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31453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424264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66160" y="63825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[SLIDE 4 / 15 · APRESENTAÇÃO ACADÊMICA]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1920240"/>
            <a:ext cx="5212080" cy="4343400"/>
          </a:xfrm>
          <a:prstGeom prst="rect">
            <a:avLst/>
          </a:prstGeom>
          <a:solidFill>
            <a:srgbClr val="0A0B11"/>
          </a:solidFill>
          <a:ln w="22225">
            <a:solidFill>
              <a:srgbClr val="EF3B3B"/>
            </a:solidFill>
            <a:prstDash val="dash"/>
          </a:ln>
        </p:spPr>
      </p:sp>
      <p:pic>
        <p:nvPicPr>
          <p:cNvPr id="15" name="Image 2" descr="Ícone miss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735" y="3108960"/>
            <a:ext cx="581891" cy="12801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" y="4480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[IMAGEM DO JOGO ORIGINAL]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989320" y="1920240"/>
            <a:ext cx="5653735" cy="77724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989320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1551615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89320" y="26060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551615" y="26060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72200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23" name="Image 3" descr="Ícone ques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908" y="2135673"/>
            <a:ext cx="196633" cy="24579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675120" y="2029968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DO QUE SE TRATA?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8732520" y="1993392"/>
            <a:ext cx="272765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Uma guerra nuclear pós-apocalíptica.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989320" y="2834640"/>
            <a:ext cx="5653735" cy="1783080"/>
          </a:xfrm>
          <a:prstGeom prst="rect">
            <a:avLst/>
          </a:prstGeom>
          <a:solidFill>
            <a:srgbClr val="0A0B11"/>
          </a:solidFill>
          <a:ln w="25400">
            <a:solidFill>
              <a:srgbClr val="5A73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989320" y="28346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1551615" y="28346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989320" y="452628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1551615" y="452628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172200" y="29809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32" name="Image 4" descr="Ícone bo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1329" y="3102742"/>
            <a:ext cx="245791" cy="14045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675120" y="2944368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IDEIA PRINCIPAL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6217920" y="3429000"/>
            <a:ext cx="5196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Simulação de uma guerra nuclear apocalíptica, inspirada diretamente no medo e nas tensões da Guerra Fria na década de 1980. O jogador defende suas cidades interceptando mísseis inimigos antes que atinjam o solo.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5989320" y="4754880"/>
            <a:ext cx="5653735" cy="68580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5989320" y="475488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1551615" y="475488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5989320" y="5349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1551615" y="5349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172200" y="490118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41" name="Image 5" descr="Ícone invad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1329" y="5003830"/>
            <a:ext cx="245791" cy="178757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6675120" y="4864608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GÊNERO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8732520" y="4828032"/>
            <a:ext cx="272765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Shoot 'em Up</a:t>
            </a:r>
            <a:endParaRPr lang="en-US" sz="1800" dirty="0"/>
          </a:p>
        </p:txBody>
      </p:sp>
      <p:sp>
        <p:nvSpPr>
          <p:cNvPr id="44" name="Shape 36"/>
          <p:cNvSpPr/>
          <p:nvPr/>
        </p:nvSpPr>
        <p:spPr>
          <a:xfrm>
            <a:off x="5989320" y="5577840"/>
            <a:ext cx="5653735" cy="685800"/>
          </a:xfrm>
          <a:prstGeom prst="rect">
            <a:avLst/>
          </a:prstGeom>
          <a:solidFill>
            <a:srgbClr val="0A0B11"/>
          </a:solidFill>
          <a:ln w="25400">
            <a:solidFill>
              <a:srgbClr val="5A73F0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5989320" y="55778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11551615" y="55778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5989320" y="617220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11551615" y="617220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6172200" y="57241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50" name="Image 6" descr="Ícone joysti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4846" y="5793273"/>
            <a:ext cx="178757" cy="245791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6675120" y="5687568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PLATAFORMA</a:t>
            </a:r>
            <a:endParaRPr lang="en-US" sz="1300" dirty="0"/>
          </a:p>
        </p:txBody>
      </p:sp>
      <p:sp>
        <p:nvSpPr>
          <p:cNvPr id="52" name="Text 43"/>
          <p:cNvSpPr txBox="1"/>
          <p:nvPr/>
        </p:nvSpPr>
        <p:spPr>
          <a:xfrm>
            <a:off x="8732520" y="5650992"/>
            <a:ext cx="272765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Atari 2600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1417320" y="384048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2.2 CONCEITO DO REMAKE</a:t>
            </a:r>
            <a:endParaRPr lang="en-US" sz="2400" dirty="0"/>
          </a:p>
        </p:txBody>
      </p:sp>
      <p:pic>
        <p:nvPicPr>
          <p:cNvPr id="3" name="Image 0" descr="Ícone roc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475488"/>
            <a:ext cx="384048" cy="548640"/>
          </a:xfrm>
          <a:prstGeom prst="rect">
            <a:avLst/>
          </a:prstGeom>
        </p:spPr>
      </p:pic>
      <p:pic>
        <p:nvPicPr>
          <p:cNvPr id="4" name="Image 1" descr="Ícone rock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088" y="475488"/>
            <a:ext cx="384048" cy="5486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078328" y="1207008"/>
            <a:ext cx="6035040" cy="420624"/>
          </a:xfrm>
          <a:prstGeom prst="rect">
            <a:avLst/>
          </a:prstGeom>
          <a:solidFill>
            <a:srgbClr val="0A0C1C"/>
          </a:solidFill>
          <a:ln w="19050">
            <a:solidFill>
              <a:srgbClr val="5A73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3901288" y="120700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MISSILE COMMAND REMAKE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3242920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35264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46237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5616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76589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875624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66160" y="63825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[SLIDE 5 / 15 · APRESENTAÇÃO ACADÊMICA]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1920240"/>
            <a:ext cx="5212080" cy="4343400"/>
          </a:xfrm>
          <a:prstGeom prst="rect">
            <a:avLst/>
          </a:prstGeom>
          <a:solidFill>
            <a:srgbClr val="0A0B11"/>
          </a:solidFill>
          <a:ln w="22225">
            <a:solidFill>
              <a:srgbClr val="EF3B3B"/>
            </a:solidFill>
            <a:prstDash val="dash"/>
          </a:ln>
        </p:spPr>
      </p:sp>
      <p:pic>
        <p:nvPicPr>
          <p:cNvPr id="15" name="Image 2" descr="Ícone c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3375660"/>
            <a:ext cx="1280160" cy="746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" y="4480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[IMAGEM DO REMAKE]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989320" y="1920240"/>
            <a:ext cx="5653735" cy="77724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989320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1551615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89320" y="26060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551615" y="26060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72200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23" name="Image 3" descr="Ícone ques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908" y="2135673"/>
            <a:ext cx="196633" cy="24579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675120" y="2029968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DO QUE SE TRATA?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8732520" y="1993392"/>
            <a:ext cx="272765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Uma guerra nuclear pós-apocalíptica.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989320" y="2834640"/>
            <a:ext cx="5653735" cy="1783080"/>
          </a:xfrm>
          <a:prstGeom prst="rect">
            <a:avLst/>
          </a:prstGeom>
          <a:solidFill>
            <a:srgbClr val="0A0B11"/>
          </a:solidFill>
          <a:ln w="25400">
            <a:solidFill>
              <a:srgbClr val="5A73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989320" y="28346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1551615" y="28346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989320" y="452628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1551615" y="452628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172200" y="29809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32" name="Image 4" descr="Ícone bo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1329" y="3102742"/>
            <a:ext cx="245791" cy="14045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675120" y="2944368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IDEIA PRINCIPAL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6217920" y="3429000"/>
            <a:ext cx="5196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Mantém a mesma premissa do original, a simulação de uma guerra nuclear inspirada nas tensões da Guerra Fria, agora com cidades representadas como bases militares em pixel art e uma abordagem de sobrevivência.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5989320" y="4754880"/>
            <a:ext cx="5653735" cy="68580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5989320" y="475488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1551615" y="475488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5989320" y="5349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1551615" y="5349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172200" y="490118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41" name="Image 5" descr="Ícone invad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1329" y="5003830"/>
            <a:ext cx="245791" cy="178757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6675120" y="4864608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GÊNERO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8732520" y="4828032"/>
            <a:ext cx="272765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Shooter Survivor</a:t>
            </a:r>
            <a:endParaRPr lang="en-US" sz="1800" dirty="0"/>
          </a:p>
        </p:txBody>
      </p:sp>
      <p:sp>
        <p:nvSpPr>
          <p:cNvPr id="44" name="Shape 36"/>
          <p:cNvSpPr/>
          <p:nvPr/>
        </p:nvSpPr>
        <p:spPr>
          <a:xfrm>
            <a:off x="5989320" y="5577840"/>
            <a:ext cx="5653735" cy="685800"/>
          </a:xfrm>
          <a:prstGeom prst="rect">
            <a:avLst/>
          </a:prstGeom>
          <a:solidFill>
            <a:srgbClr val="0A0B11"/>
          </a:solidFill>
          <a:ln w="25400">
            <a:solidFill>
              <a:srgbClr val="5A73F0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5989320" y="55778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11551615" y="55778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5989320" y="617220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11551615" y="617220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6172200" y="57241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50" name="Image 6" descr="Ícone gamepa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1329" y="5834238"/>
            <a:ext cx="245791" cy="16386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6675120" y="5687568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PLATAFORMA</a:t>
            </a:r>
            <a:endParaRPr lang="en-US" sz="1300" dirty="0"/>
          </a:p>
        </p:txBody>
      </p:sp>
      <p:sp>
        <p:nvSpPr>
          <p:cNvPr id="52" name="Text 43"/>
          <p:cNvSpPr txBox="1"/>
          <p:nvPr/>
        </p:nvSpPr>
        <p:spPr>
          <a:xfrm>
            <a:off x="8732520" y="5650992"/>
            <a:ext cx="272765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PC / Web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1417320" y="384048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2.3 QUADRO PMA</a:t>
            </a:r>
            <a:endParaRPr lang="en-US" sz="2400" dirty="0"/>
          </a:p>
        </p:txBody>
      </p:sp>
      <p:pic>
        <p:nvPicPr>
          <p:cNvPr id="3" name="Image 0" descr="Ícone g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6448"/>
            <a:ext cx="548640" cy="426720"/>
          </a:xfrm>
          <a:prstGeom prst="rect">
            <a:avLst/>
          </a:prstGeom>
        </p:spPr>
      </p:pic>
      <p:pic>
        <p:nvPicPr>
          <p:cNvPr id="4" name="Image 1" descr="Ícone ge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536448"/>
            <a:ext cx="548640" cy="426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523848" y="1207008"/>
            <a:ext cx="9144000" cy="420624"/>
          </a:xfrm>
          <a:prstGeom prst="rect">
            <a:avLst/>
          </a:prstGeom>
          <a:solidFill>
            <a:srgbClr val="0A0C1C"/>
          </a:solidFill>
          <a:ln w="19050">
            <a:solidFill>
              <a:srgbClr val="5A73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346808" y="120700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PRESERVAMOS · MODIFICAMOS · ADICIONAMOS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1688440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79816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90789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21064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32037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430104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66160" y="63825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[SLIDE 6 / 15 · APRESENTAÇÃO ACADÊMICA]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1920240"/>
            <a:ext cx="3566160" cy="434340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023360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617220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023360" y="617220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20" name="Image 2" descr="Ícone 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38" y="2135673"/>
            <a:ext cx="221212" cy="24579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34440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PRESERVAMOS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77240" y="2578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D0">
                    <a:alpha val="70000"/>
                  </a:srgbClr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Elementos essenciais mantidos</a:t>
            </a:r>
            <a:endParaRPr lang="en-US" sz="1400" dirty="0"/>
          </a:p>
        </p:txBody>
      </p:sp>
      <p:pic>
        <p:nvPicPr>
          <p:cNvPr id="23" name="Image 3" descr="Ícone c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55848"/>
            <a:ext cx="329184" cy="19202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80160" y="30632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Defesa das cidades contra mísseis</a:t>
            </a:r>
            <a:endParaRPr lang="en-US" sz="1600" dirty="0"/>
          </a:p>
        </p:txBody>
      </p:sp>
      <p:pic>
        <p:nvPicPr>
          <p:cNvPr id="25" name="Image 4" descr="Ícone searc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6450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80160" y="3840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Mira e disparo de interceptadores</a:t>
            </a:r>
            <a:endParaRPr lang="en-US" sz="1600" dirty="0"/>
          </a:p>
        </p:txBody>
      </p:sp>
      <p:pic>
        <p:nvPicPr>
          <p:cNvPr id="27" name="Image 5" descr="Ícone miss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737" y="4841748"/>
            <a:ext cx="149629" cy="32918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280160" y="46177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Tema de guerra nuclear da Guerra Fria</a:t>
            </a:r>
            <a:endParaRPr lang="en-US" sz="1600" dirty="0"/>
          </a:p>
        </p:txBody>
      </p:sp>
      <p:pic>
        <p:nvPicPr>
          <p:cNvPr id="29" name="Image 6" descr="Ícone troph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61898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280160" y="5394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Pontuação e recordes</a:t>
            </a:r>
            <a:endParaRPr lang="en-US" sz="1600" dirty="0"/>
          </a:p>
        </p:txBody>
      </p:sp>
      <p:sp>
        <p:nvSpPr>
          <p:cNvPr id="31" name="Shape 22"/>
          <p:cNvSpPr/>
          <p:nvPr/>
        </p:nvSpPr>
        <p:spPr>
          <a:xfrm>
            <a:off x="4312768" y="1920240"/>
            <a:ext cx="3566160" cy="4343400"/>
          </a:xfrm>
          <a:prstGeom prst="rect">
            <a:avLst/>
          </a:prstGeom>
          <a:solidFill>
            <a:srgbClr val="0A0B11"/>
          </a:solidFill>
          <a:ln w="25400">
            <a:solidFill>
              <a:srgbClr val="5A73F0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4312768" y="1920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7787488" y="1920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4312768" y="617220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7787488" y="617220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4495648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37" name="Image 7" descr="Ícone gea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4776" y="2162983"/>
            <a:ext cx="245791" cy="191171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4998568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MODIFICAMOS</a:t>
            </a:r>
            <a:endParaRPr lang="en-US" sz="1300" dirty="0"/>
          </a:p>
        </p:txBody>
      </p:sp>
      <p:sp>
        <p:nvSpPr>
          <p:cNvPr id="39" name="Text 29"/>
          <p:cNvSpPr txBox="1"/>
          <p:nvPr/>
        </p:nvSpPr>
        <p:spPr>
          <a:xfrm>
            <a:off x="4541368" y="2578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D0">
                    <a:alpha val="70000"/>
                  </a:srgbClr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Elementos alterados ou reimaginados</a:t>
            </a:r>
            <a:endParaRPr lang="en-US" sz="1400" dirty="0"/>
          </a:p>
        </p:txBody>
      </p:sp>
      <p:pic>
        <p:nvPicPr>
          <p:cNvPr id="40" name="Image 8" descr="Ícone brush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7088" y="3317194"/>
            <a:ext cx="329184" cy="269332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5044288" y="30632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Visual em pixel art moderna</a:t>
            </a:r>
            <a:endParaRPr lang="en-US" sz="1600" dirty="0"/>
          </a:p>
        </p:txBody>
      </p:sp>
      <p:pic>
        <p:nvPicPr>
          <p:cNvPr id="42" name="Image 9" descr="Ícone cit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7088" y="4133088"/>
            <a:ext cx="329184" cy="192024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5044288" y="3840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Cidades como bases militares</a:t>
            </a:r>
            <a:endParaRPr lang="en-US" sz="1600" dirty="0"/>
          </a:p>
        </p:txBody>
      </p:sp>
      <p:pic>
        <p:nvPicPr>
          <p:cNvPr id="44" name="Image 10" descr="Ícone asteroid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87088" y="4860036"/>
            <a:ext cx="329184" cy="292608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5044288" y="46177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Animação de destruição em 6 frames</a:t>
            </a:r>
            <a:endParaRPr lang="en-US" sz="1600" dirty="0"/>
          </a:p>
        </p:txBody>
      </p:sp>
      <p:pic>
        <p:nvPicPr>
          <p:cNvPr id="46" name="Image 11" descr="Ícone monito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7088" y="5618988"/>
            <a:ext cx="329184" cy="329184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5044288" y="5394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De Atari para PC/Web</a:t>
            </a:r>
            <a:endParaRPr lang="en-US" sz="1600" dirty="0"/>
          </a:p>
        </p:txBody>
      </p:sp>
      <p:sp>
        <p:nvSpPr>
          <p:cNvPr id="48" name="Shape 34"/>
          <p:cNvSpPr/>
          <p:nvPr/>
        </p:nvSpPr>
        <p:spPr>
          <a:xfrm>
            <a:off x="8076895" y="1920240"/>
            <a:ext cx="3566160" cy="4343400"/>
          </a:xfrm>
          <a:prstGeom prst="rect">
            <a:avLst/>
          </a:prstGeom>
          <a:solidFill>
            <a:srgbClr val="0A0B11"/>
          </a:solidFill>
          <a:ln w="25400">
            <a:solidFill>
              <a:srgbClr val="EF3B3B"/>
            </a:solidFill>
            <a:prstDash val="solid"/>
          </a:ln>
        </p:spPr>
      </p:sp>
      <p:sp>
        <p:nvSpPr>
          <p:cNvPr id="49" name="Shape 35"/>
          <p:cNvSpPr/>
          <p:nvPr/>
        </p:nvSpPr>
        <p:spPr>
          <a:xfrm>
            <a:off x="8076895" y="192024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50" name="Shape 36"/>
          <p:cNvSpPr/>
          <p:nvPr/>
        </p:nvSpPr>
        <p:spPr>
          <a:xfrm>
            <a:off x="11551615" y="192024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51" name="Shape 37"/>
          <p:cNvSpPr/>
          <p:nvPr/>
        </p:nvSpPr>
        <p:spPr>
          <a:xfrm>
            <a:off x="8076895" y="617220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52" name="Shape 38"/>
          <p:cNvSpPr/>
          <p:nvPr/>
        </p:nvSpPr>
        <p:spPr>
          <a:xfrm>
            <a:off x="11551615" y="617220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8259775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EF3B3B"/>
            </a:solidFill>
            <a:prstDash val="solid"/>
          </a:ln>
        </p:spPr>
      </p:sp>
      <p:pic>
        <p:nvPicPr>
          <p:cNvPr id="54" name="Image 12" descr="Ícone plus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8904" y="2135673"/>
            <a:ext cx="245791" cy="245791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8762695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ADICIONAMOS</a:t>
            </a:r>
            <a:endParaRPr lang="en-US" sz="1300" dirty="0"/>
          </a:p>
        </p:txBody>
      </p:sp>
      <p:sp>
        <p:nvSpPr>
          <p:cNvPr id="56" name="Text 41"/>
          <p:cNvSpPr txBox="1"/>
          <p:nvPr/>
        </p:nvSpPr>
        <p:spPr>
          <a:xfrm>
            <a:off x="8305495" y="2578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D0">
                    <a:alpha val="70000"/>
                  </a:srgbClr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Novos elementos propostos pela equipe</a:t>
            </a:r>
            <a:endParaRPr lang="en-US" sz="1400" dirty="0"/>
          </a:p>
        </p:txBody>
      </p:sp>
      <p:pic>
        <p:nvPicPr>
          <p:cNvPr id="57" name="Image 13" descr="Ícone hear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1215" y="3305556"/>
            <a:ext cx="329184" cy="292608"/>
          </a:xfrm>
          <a:prstGeom prst="rect">
            <a:avLst/>
          </a:prstGeom>
        </p:spPr>
      </p:pic>
      <p:sp>
        <p:nvSpPr>
          <p:cNvPr id="58" name="Text 42"/>
          <p:cNvSpPr txBox="1"/>
          <p:nvPr/>
        </p:nvSpPr>
        <p:spPr>
          <a:xfrm>
            <a:off x="8808415" y="30632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Estrutura de Shooter Survivor</a:t>
            </a:r>
            <a:endParaRPr lang="en-US" sz="1600" dirty="0"/>
          </a:p>
        </p:txBody>
      </p:sp>
      <p:pic>
        <p:nvPicPr>
          <p:cNvPr id="59" name="Image 14" descr="Ícone wirefram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51215" y="4094434"/>
            <a:ext cx="329184" cy="269332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8808415" y="3840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Menu inicial ilustrado</a:t>
            </a:r>
            <a:endParaRPr lang="en-US" sz="1600" dirty="0"/>
          </a:p>
        </p:txBody>
      </p:sp>
      <p:pic>
        <p:nvPicPr>
          <p:cNvPr id="61" name="Image 15" descr="Ícone questi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4134" y="4841748"/>
            <a:ext cx="263347" cy="329184"/>
          </a:xfrm>
          <a:prstGeom prst="rect">
            <a:avLst/>
          </a:prstGeom>
        </p:spPr>
      </p:pic>
      <p:sp>
        <p:nvSpPr>
          <p:cNvPr id="62" name="Text 44"/>
          <p:cNvSpPr txBox="1"/>
          <p:nvPr/>
        </p:nvSpPr>
        <p:spPr>
          <a:xfrm>
            <a:off x="8808415" y="46177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Tutorial simples</a:t>
            </a:r>
            <a:endParaRPr lang="en-US" sz="1600" dirty="0"/>
          </a:p>
        </p:txBody>
      </p:sp>
      <p:pic>
        <p:nvPicPr>
          <p:cNvPr id="63" name="Image 16" descr="Ícone rocket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00593" y="5618988"/>
            <a:ext cx="230429" cy="329184"/>
          </a:xfrm>
          <a:prstGeom prst="rect">
            <a:avLst/>
          </a:prstGeom>
        </p:spPr>
      </p:pic>
      <p:sp>
        <p:nvSpPr>
          <p:cNvPr id="64" name="Text 45"/>
          <p:cNvSpPr txBox="1"/>
          <p:nvPr/>
        </p:nvSpPr>
        <p:spPr>
          <a:xfrm>
            <a:off x="8808415" y="5394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Dificuldade progressiva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1417320" y="384048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3. PERSONAS (PÚBLICO-ALVO)</a:t>
            </a:r>
            <a:endParaRPr lang="en-US" sz="2400" dirty="0"/>
          </a:p>
        </p:txBody>
      </p:sp>
      <p:pic>
        <p:nvPicPr>
          <p:cNvPr id="3" name="Image 0" descr="Ícone per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9778"/>
            <a:ext cx="548640" cy="480060"/>
          </a:xfrm>
          <a:prstGeom prst="rect">
            <a:avLst/>
          </a:prstGeom>
        </p:spPr>
      </p:pic>
      <p:pic>
        <p:nvPicPr>
          <p:cNvPr id="4" name="Image 1" descr="Ícone pers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509778"/>
            <a:ext cx="548640" cy="4800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523848" y="1207008"/>
            <a:ext cx="9144000" cy="420624"/>
          </a:xfrm>
          <a:prstGeom prst="rect">
            <a:avLst/>
          </a:prstGeom>
          <a:solidFill>
            <a:srgbClr val="0A0C1C"/>
          </a:solidFill>
          <a:ln w="19050">
            <a:solidFill>
              <a:srgbClr val="5A73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346808" y="120700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UM JOGADOR NOSTÁLGICO E UM NOVO JOGADOR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1688440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79816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90789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21064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32037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430104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66160" y="63825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[SLIDE 7 / 15 · APRESENTAÇÃO ACADÊMICA]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1920240"/>
            <a:ext cx="5440680" cy="438912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97880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621792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897880" y="621792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20" name="Image 2" descr="Ícone inva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49" y="2169190"/>
            <a:ext cx="245791" cy="17875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34440" y="2029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PERSONA 1: JOGADOR NOSTÁLGICO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49808" y="2697480"/>
            <a:ext cx="512064" cy="512064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23" name="Image 3" descr="Ícone pers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80" y="2810134"/>
            <a:ext cx="327721" cy="28675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371600" y="2706624"/>
            <a:ext cx="27432" cy="493776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536192" y="263347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F23C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Nome e idade: </a:t>
            </a:r>
            <a:pPr indent="0" marL="0">
              <a:buNone/>
            </a:pPr>
            <a:r>
              <a:rPr lang="en-US" sz="1400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Luiz Adriano, 45 anos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749808" y="3410712"/>
            <a:ext cx="512064" cy="512064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27" name="Image 4" descr="Ícone gamepa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80" y="3557504"/>
            <a:ext cx="327721" cy="218481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1371600" y="3419856"/>
            <a:ext cx="27432" cy="493776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536192" y="334670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F23C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Relação com videogames: </a:t>
            </a:r>
            <a:pPr indent="0" marL="0">
              <a:buNone/>
            </a:pPr>
            <a:r>
              <a:rPr lang="en-US" sz="1400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gosta de jogos clássicos de arcade e recorda os desafios da época.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49808" y="4123944"/>
            <a:ext cx="512064" cy="512064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31" name="Image 5" descr="Ícone searc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980" y="4216116"/>
            <a:ext cx="327721" cy="327721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1371600" y="4133088"/>
            <a:ext cx="27432" cy="493776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1536192" y="405993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F23C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Procura: </a:t>
            </a:r>
            <a:pPr indent="0" marL="0">
              <a:buNone/>
            </a:pPr>
            <a:r>
              <a:rPr lang="en-US" sz="1400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desafios, reflexos rápidos e recordes.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749808" y="4837176"/>
            <a:ext cx="512064" cy="512064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35" name="Image 6" descr="Ícone invad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980" y="4974037"/>
            <a:ext cx="327721" cy="238343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1371600" y="4846320"/>
            <a:ext cx="27432" cy="493776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1536192" y="477316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F23C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Frustrações: </a:t>
            </a:r>
            <a:pPr indent="0" marL="0">
              <a:buNone/>
            </a:pPr>
            <a:r>
              <a:rPr lang="en-US" sz="1400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controles ruins e mudanças que descaracterizem o original.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749808" y="5550408"/>
            <a:ext cx="512064" cy="512064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39" name="Image 7" descr="Ícone sta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980" y="5642580"/>
            <a:ext cx="327721" cy="327721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1371600" y="5559552"/>
            <a:ext cx="27432" cy="493776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1536192" y="5486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F23C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Espera do remake: </a:t>
            </a:r>
            <a:pPr indent="0" marL="0">
              <a:buNone/>
            </a:pPr>
            <a:r>
              <a:rPr lang="en-US" sz="1400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manter a essência clássica com gráficos e sons renovados.</a:t>
            </a:r>
            <a:endParaRPr lang="en-US" sz="1400" dirty="0"/>
          </a:p>
        </p:txBody>
      </p:sp>
      <p:sp>
        <p:nvSpPr>
          <p:cNvPr id="42" name="Shape 32"/>
          <p:cNvSpPr/>
          <p:nvPr/>
        </p:nvSpPr>
        <p:spPr>
          <a:xfrm>
            <a:off x="6202375" y="1920240"/>
            <a:ext cx="5440680" cy="4389120"/>
          </a:xfrm>
          <a:prstGeom prst="rect">
            <a:avLst/>
          </a:prstGeom>
          <a:solidFill>
            <a:srgbClr val="0A0B11"/>
          </a:solidFill>
          <a:ln w="25400">
            <a:solidFill>
              <a:srgbClr val="5A73F0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6202375" y="1920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11551615" y="1920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6202375" y="621792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11551615" y="621792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6385255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48" name="Image 8" descr="Ícone invad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4384" y="2169190"/>
            <a:ext cx="245791" cy="178757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6888175" y="2029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PERSONA 2: NOVO JOGADOR</a:t>
            </a:r>
            <a:endParaRPr lang="en-US" sz="1300" dirty="0"/>
          </a:p>
        </p:txBody>
      </p:sp>
      <p:sp>
        <p:nvSpPr>
          <p:cNvPr id="50" name="Shape 39"/>
          <p:cNvSpPr/>
          <p:nvPr/>
        </p:nvSpPr>
        <p:spPr>
          <a:xfrm>
            <a:off x="6403543" y="2697480"/>
            <a:ext cx="512064" cy="512064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51" name="Image 9" descr="Ícone pers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5715" y="2810134"/>
            <a:ext cx="327721" cy="286756"/>
          </a:xfrm>
          <a:prstGeom prst="rect">
            <a:avLst/>
          </a:prstGeom>
        </p:spPr>
      </p:pic>
      <p:sp>
        <p:nvSpPr>
          <p:cNvPr id="52" name="Shape 40"/>
          <p:cNvSpPr/>
          <p:nvPr/>
        </p:nvSpPr>
        <p:spPr>
          <a:xfrm>
            <a:off x="7025335" y="2706624"/>
            <a:ext cx="27432" cy="493776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53" name="Text 41"/>
          <p:cNvSpPr txBox="1"/>
          <p:nvPr/>
        </p:nvSpPr>
        <p:spPr>
          <a:xfrm>
            <a:off x="7189927" y="263347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Nome e idade: </a:t>
            </a:r>
            <a:pPr indent="0" marL="0">
              <a:buNone/>
            </a:pPr>
            <a:r>
              <a:rPr lang="en-US" sz="1400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Camila, 19 anos</a:t>
            </a:r>
            <a:endParaRPr lang="en-US" sz="1400" dirty="0"/>
          </a:p>
        </p:txBody>
      </p:sp>
      <p:sp>
        <p:nvSpPr>
          <p:cNvPr id="54" name="Shape 42"/>
          <p:cNvSpPr/>
          <p:nvPr/>
        </p:nvSpPr>
        <p:spPr>
          <a:xfrm>
            <a:off x="6403543" y="3410712"/>
            <a:ext cx="512064" cy="512064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55" name="Image 10" descr="Ícone gamepad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5715" y="3557504"/>
            <a:ext cx="327721" cy="218481"/>
          </a:xfrm>
          <a:prstGeom prst="rect">
            <a:avLst/>
          </a:prstGeom>
        </p:spPr>
      </p:pic>
      <p:sp>
        <p:nvSpPr>
          <p:cNvPr id="56" name="Shape 43"/>
          <p:cNvSpPr/>
          <p:nvPr/>
        </p:nvSpPr>
        <p:spPr>
          <a:xfrm>
            <a:off x="7025335" y="3419856"/>
            <a:ext cx="27432" cy="493776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57" name="Text 44"/>
          <p:cNvSpPr txBox="1"/>
          <p:nvPr/>
        </p:nvSpPr>
        <p:spPr>
          <a:xfrm>
            <a:off x="7189927" y="334670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Relação com videogames: </a:t>
            </a:r>
            <a:pPr indent="0" marL="0">
              <a:buNone/>
            </a:pPr>
            <a:r>
              <a:rPr lang="en-US" sz="1400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joga no celular e no PC, preferindo jogos de ação.</a:t>
            </a:r>
            <a:endParaRPr lang="en-US" sz="1400" dirty="0"/>
          </a:p>
        </p:txBody>
      </p:sp>
      <p:sp>
        <p:nvSpPr>
          <p:cNvPr id="58" name="Shape 45"/>
          <p:cNvSpPr/>
          <p:nvPr/>
        </p:nvSpPr>
        <p:spPr>
          <a:xfrm>
            <a:off x="6403543" y="4123944"/>
            <a:ext cx="512064" cy="512064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59" name="Image 11" descr="Ícone search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5715" y="4216116"/>
            <a:ext cx="327721" cy="327721"/>
          </a:xfrm>
          <a:prstGeom prst="rect">
            <a:avLst/>
          </a:prstGeom>
        </p:spPr>
      </p:pic>
      <p:sp>
        <p:nvSpPr>
          <p:cNvPr id="60" name="Shape 46"/>
          <p:cNvSpPr/>
          <p:nvPr/>
        </p:nvSpPr>
        <p:spPr>
          <a:xfrm>
            <a:off x="7025335" y="4133088"/>
            <a:ext cx="27432" cy="493776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61" name="Text 47"/>
          <p:cNvSpPr txBox="1"/>
          <p:nvPr/>
        </p:nvSpPr>
        <p:spPr>
          <a:xfrm>
            <a:off x="7189927" y="405993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Procura: </a:t>
            </a:r>
            <a:pPr indent="0" marL="0">
              <a:buNone/>
            </a:pPr>
            <a:r>
              <a:rPr lang="en-US" sz="1400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diversão rápida, objetivos claros e controles simples.</a:t>
            </a:r>
            <a:endParaRPr lang="en-US" sz="1400" dirty="0"/>
          </a:p>
        </p:txBody>
      </p:sp>
      <p:sp>
        <p:nvSpPr>
          <p:cNvPr id="62" name="Shape 48"/>
          <p:cNvSpPr/>
          <p:nvPr/>
        </p:nvSpPr>
        <p:spPr>
          <a:xfrm>
            <a:off x="6403543" y="4837176"/>
            <a:ext cx="512064" cy="512064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63" name="Image 12" descr="Ícone invade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5715" y="4974037"/>
            <a:ext cx="327721" cy="238343"/>
          </a:xfrm>
          <a:prstGeom prst="rect">
            <a:avLst/>
          </a:prstGeom>
        </p:spPr>
      </p:pic>
      <p:sp>
        <p:nvSpPr>
          <p:cNvPr id="64" name="Shape 49"/>
          <p:cNvSpPr/>
          <p:nvPr/>
        </p:nvSpPr>
        <p:spPr>
          <a:xfrm>
            <a:off x="7025335" y="4846320"/>
            <a:ext cx="27432" cy="493776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65" name="Text 50"/>
          <p:cNvSpPr txBox="1"/>
          <p:nvPr/>
        </p:nvSpPr>
        <p:spPr>
          <a:xfrm>
            <a:off x="7189927" y="477316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Frustrações: </a:t>
            </a:r>
            <a:pPr indent="0" marL="0">
              <a:buNone/>
            </a:pPr>
            <a:r>
              <a:rPr lang="en-US" sz="1400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regras confusas e dificuldade excessiva.</a:t>
            </a:r>
            <a:endParaRPr lang="en-US" sz="1400" dirty="0"/>
          </a:p>
        </p:txBody>
      </p:sp>
      <p:sp>
        <p:nvSpPr>
          <p:cNvPr id="66" name="Shape 51"/>
          <p:cNvSpPr/>
          <p:nvPr/>
        </p:nvSpPr>
        <p:spPr>
          <a:xfrm>
            <a:off x="6403543" y="5550408"/>
            <a:ext cx="512064" cy="512064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67" name="Image 13" descr="Ícone star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5715" y="5642580"/>
            <a:ext cx="327721" cy="327721"/>
          </a:xfrm>
          <a:prstGeom prst="rect">
            <a:avLst/>
          </a:prstGeom>
        </p:spPr>
      </p:pic>
      <p:sp>
        <p:nvSpPr>
          <p:cNvPr id="68" name="Shape 52"/>
          <p:cNvSpPr/>
          <p:nvPr/>
        </p:nvSpPr>
        <p:spPr>
          <a:xfrm>
            <a:off x="7025335" y="5559552"/>
            <a:ext cx="27432" cy="493776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69" name="Text 53"/>
          <p:cNvSpPr txBox="1"/>
          <p:nvPr/>
        </p:nvSpPr>
        <p:spPr>
          <a:xfrm>
            <a:off x="7189927" y="5486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Espera do remake: </a:t>
            </a:r>
            <a:pPr indent="0" marL="0">
              <a:buNone/>
            </a:pPr>
            <a:r>
              <a:rPr lang="en-US" sz="1400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visual moderno, tutorial simples e desafios progressivos.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1417320" y="384048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4.1 ARTES · IDENTIDADE VISUAL</a:t>
            </a:r>
            <a:endParaRPr lang="en-US" sz="2400" dirty="0"/>
          </a:p>
        </p:txBody>
      </p:sp>
      <p:pic>
        <p:nvPicPr>
          <p:cNvPr id="3" name="Image 0" descr="Ícone bru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25364"/>
            <a:ext cx="548640" cy="448887"/>
          </a:xfrm>
          <a:prstGeom prst="rect">
            <a:avLst/>
          </a:prstGeom>
        </p:spPr>
      </p:pic>
      <p:pic>
        <p:nvPicPr>
          <p:cNvPr id="4" name="Image 1" descr="Ícone bru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525364"/>
            <a:ext cx="548640" cy="44888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895448" y="1207008"/>
            <a:ext cx="6400800" cy="420624"/>
          </a:xfrm>
          <a:prstGeom prst="rect">
            <a:avLst/>
          </a:prstGeom>
          <a:solidFill>
            <a:srgbClr val="0A0C1C"/>
          </a:solidFill>
          <a:ln w="19050">
            <a:solidFill>
              <a:srgbClr val="5A73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3718408" y="120700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MOOD BOARD E REFERÊNCIAS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3060040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16976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27949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83904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94877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058504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66160" y="63825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[SLIDE 8 / 15 · APRESENTAÇÃO ACADÊMICA]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1920240"/>
            <a:ext cx="5669280" cy="438912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6480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621792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26480" y="621792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20" name="Image 2" descr="Ícone 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49" y="2135673"/>
            <a:ext cx="245791" cy="24579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34440" y="20299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REFERÊNCIAS</a:t>
            </a:r>
            <a:endParaRPr lang="en-US" sz="1300" dirty="0"/>
          </a:p>
        </p:txBody>
      </p:sp>
      <p:pic>
        <p:nvPicPr>
          <p:cNvPr id="22" name="Image 3" descr="Ícone missi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737" y="2670048"/>
            <a:ext cx="149629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80160" y="2606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Referência 1: Missile Command (Atari)</a:t>
            </a:r>
            <a:endParaRPr lang="en-US" sz="1600" dirty="0"/>
          </a:p>
        </p:txBody>
      </p:sp>
      <p:pic>
        <p:nvPicPr>
          <p:cNvPr id="24" name="Image 4" descr="Ícone invad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172137"/>
            <a:ext cx="329184" cy="23940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80160" y="3063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Referência 2: Space Invaders</a:t>
            </a:r>
            <a:endParaRPr lang="en-US" sz="1600" dirty="0"/>
          </a:p>
        </p:txBody>
      </p:sp>
      <p:pic>
        <p:nvPicPr>
          <p:cNvPr id="26" name="Image 5" descr="Ícone gamepa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639312"/>
            <a:ext cx="329184" cy="21945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280160" y="3520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Referência 3: [Nome do jogo]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731520" y="4114800"/>
            <a:ext cx="365760" cy="365760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29" name="Image 6" descr="Ícone brus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185458"/>
            <a:ext cx="274320" cy="2244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23444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CORES PRINCIPAIS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777240" y="45720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Paleta análoga com base em azul-acinzentado (#7AB7CC) sobre fundo escuro.</a:t>
            </a: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777240" y="5303520"/>
            <a:ext cx="914400" cy="685800"/>
          </a:xfrm>
          <a:prstGeom prst="rect">
            <a:avLst/>
          </a:prstGeom>
          <a:solidFill>
            <a:srgbClr val="7AB7CC"/>
          </a:solidFill>
          <a:ln w="9525">
            <a:solidFill>
              <a:srgbClr val="E8F5D0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777240" y="5623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762" rIns="0" bIns="381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507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#7AB7CC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1801368" y="5303520"/>
            <a:ext cx="914400" cy="685800"/>
          </a:xfrm>
          <a:prstGeom prst="rect">
            <a:avLst/>
          </a:prstGeom>
          <a:solidFill>
            <a:srgbClr val="4A8AA3"/>
          </a:solidFill>
          <a:ln w="9525">
            <a:solidFill>
              <a:srgbClr val="E8F5D0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1801368" y="5623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762" rIns="0" bIns="381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507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#4A8AA3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2825496" y="5303520"/>
            <a:ext cx="914400" cy="685800"/>
          </a:xfrm>
          <a:prstGeom prst="rect">
            <a:avLst/>
          </a:prstGeom>
          <a:solidFill>
            <a:srgbClr val="A9D6E6"/>
          </a:solidFill>
          <a:ln w="9525">
            <a:solidFill>
              <a:srgbClr val="E8F5D0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2825496" y="5623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762" rIns="0" bIns="381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507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#A9D6E6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3849624" y="5303520"/>
            <a:ext cx="914400" cy="685800"/>
          </a:xfrm>
          <a:prstGeom prst="rect">
            <a:avLst/>
          </a:prstGeom>
          <a:solidFill>
            <a:srgbClr val="B4F23C"/>
          </a:solidFill>
          <a:ln w="9525">
            <a:solidFill>
              <a:srgbClr val="E8F5D0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3849624" y="5623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762" rIns="0" bIns="381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507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#B4F23C</a:t>
            </a:r>
            <a:endParaRPr lang="en-US" sz="1400" dirty="0"/>
          </a:p>
        </p:txBody>
      </p:sp>
      <p:sp>
        <p:nvSpPr>
          <p:cNvPr id="40" name="Shape 31"/>
          <p:cNvSpPr/>
          <p:nvPr/>
        </p:nvSpPr>
        <p:spPr>
          <a:xfrm>
            <a:off x="4873752" y="5303520"/>
            <a:ext cx="914400" cy="685800"/>
          </a:xfrm>
          <a:prstGeom prst="rect">
            <a:avLst/>
          </a:prstGeom>
          <a:solidFill>
            <a:srgbClr val="EF3B3B"/>
          </a:solidFill>
          <a:ln w="9525">
            <a:solidFill>
              <a:srgbClr val="E8F5D0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4873752" y="5623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762" rIns="0" bIns="381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507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#EF3B3B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6400800" y="1920240"/>
            <a:ext cx="5242255" cy="4389120"/>
          </a:xfrm>
          <a:prstGeom prst="rect">
            <a:avLst/>
          </a:prstGeom>
          <a:solidFill>
            <a:srgbClr val="0A0B11"/>
          </a:solidFill>
          <a:ln w="22225">
            <a:solidFill>
              <a:srgbClr val="5A73F0"/>
            </a:solidFill>
            <a:prstDash val="dash"/>
          </a:ln>
        </p:spPr>
      </p:sp>
      <p:pic>
        <p:nvPicPr>
          <p:cNvPr id="43" name="Image 7" descr="Ícone brus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7568" y="3285605"/>
            <a:ext cx="1188720" cy="972589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6537960" y="4457700"/>
            <a:ext cx="4967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[PRINT DO MOOD BOARD / PALETA]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1417320" y="384048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4.2 ARTES · IN GAME E INTERFACE</a:t>
            </a:r>
            <a:endParaRPr lang="en-US" sz="2400" dirty="0"/>
          </a:p>
        </p:txBody>
      </p:sp>
      <p:pic>
        <p:nvPicPr>
          <p:cNvPr id="3" name="Image 0" descr="Ícone c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89788"/>
            <a:ext cx="548640" cy="320040"/>
          </a:xfrm>
          <a:prstGeom prst="rect">
            <a:avLst/>
          </a:prstGeom>
        </p:spPr>
      </p:pic>
      <p:pic>
        <p:nvPicPr>
          <p:cNvPr id="4" name="Image 1" descr="Ícone c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589788"/>
            <a:ext cx="548640" cy="3200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169768" y="1207008"/>
            <a:ext cx="5852160" cy="420624"/>
          </a:xfrm>
          <a:prstGeom prst="rect">
            <a:avLst/>
          </a:prstGeom>
          <a:solidFill>
            <a:srgbClr val="0A0C1C"/>
          </a:solidFill>
          <a:ln w="19050">
            <a:solidFill>
              <a:srgbClr val="5A73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3992728" y="120700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SPRITES, CENÁRIO E UI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3334360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44408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55381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56472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67445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784184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66160" y="63825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[SLIDE 9 / 15 · APRESENTAÇÃO ACADÊMICA]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1920240"/>
            <a:ext cx="3566160" cy="2103120"/>
          </a:xfrm>
          <a:prstGeom prst="rect">
            <a:avLst/>
          </a:prstGeom>
          <a:solidFill>
            <a:srgbClr val="0A0B11"/>
          </a:solidFill>
          <a:ln w="25400">
            <a:solidFill>
              <a:srgbClr val="EF3B3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192024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023360" y="192024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393192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023360" y="393192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EF3B3B"/>
            </a:solidFill>
            <a:prstDash val="solid"/>
          </a:ln>
        </p:spPr>
      </p:sp>
      <p:pic>
        <p:nvPicPr>
          <p:cNvPr id="20" name="Image 2" descr="Ícone c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49" y="2186879"/>
            <a:ext cx="245791" cy="14337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34440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CIDADE / BASE (32X32)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31520" y="2606040"/>
            <a:ext cx="3200400" cy="1234440"/>
          </a:xfrm>
          <a:prstGeom prst="rect">
            <a:avLst/>
          </a:prstGeom>
          <a:solidFill>
            <a:srgbClr val="0A0B11"/>
          </a:solidFill>
          <a:ln w="22225">
            <a:solidFill>
              <a:srgbClr val="EF3B3B"/>
            </a:solidFill>
            <a:prstDash val="dash"/>
          </a:ln>
        </p:spPr>
      </p:sp>
      <p:pic>
        <p:nvPicPr>
          <p:cNvPr id="23" name="Image 3" descr="Ícone c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2720340"/>
            <a:ext cx="5486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68680" y="3246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[CIDADE INTACTA &gt; FLASH &gt; ESCOMBROS · 6 FRAMES]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12768" y="1920240"/>
            <a:ext cx="3566160" cy="210312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312768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787488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312768" y="393192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787488" y="393192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495648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31" name="Image 4" descr="Ícone missi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810" y="2135673"/>
            <a:ext cx="111723" cy="245791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998568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INIMIGOS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4495648" y="2606040"/>
            <a:ext cx="3200400" cy="1234440"/>
          </a:xfrm>
          <a:prstGeom prst="rect">
            <a:avLst/>
          </a:prstGeom>
          <a:solidFill>
            <a:srgbClr val="0A0B11"/>
          </a:solidFill>
          <a:ln w="22225">
            <a:solidFill>
              <a:srgbClr val="B4F23C"/>
            </a:solidFill>
            <a:prstDash val="dash"/>
          </a:ln>
        </p:spPr>
      </p:sp>
      <p:pic>
        <p:nvPicPr>
          <p:cNvPr id="34" name="Image 5" descr="Ícone miss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157" y="2606040"/>
            <a:ext cx="249382" cy="54864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632808" y="3246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[MÍSSEIS INIMIGOS]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8076895" y="1920240"/>
            <a:ext cx="3566160" cy="2103120"/>
          </a:xfrm>
          <a:prstGeom prst="rect">
            <a:avLst/>
          </a:prstGeom>
          <a:solidFill>
            <a:srgbClr val="0A0B11"/>
          </a:solidFill>
          <a:ln w="25400">
            <a:solidFill>
              <a:srgbClr val="5A73F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076895" y="1920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11551615" y="1920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076895" y="393192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11551615" y="393192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8259775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42" name="Image 6" descr="Ícone asteroi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904" y="2149328"/>
            <a:ext cx="245791" cy="218481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762695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ELEMENTOS DE CENÁRIO</a:t>
            </a:r>
            <a:endParaRPr lang="en-US" sz="1300" dirty="0"/>
          </a:p>
        </p:txBody>
      </p:sp>
      <p:sp>
        <p:nvSpPr>
          <p:cNvPr id="44" name="Shape 35"/>
          <p:cNvSpPr/>
          <p:nvPr/>
        </p:nvSpPr>
        <p:spPr>
          <a:xfrm>
            <a:off x="8259775" y="2606040"/>
            <a:ext cx="3200400" cy="1234440"/>
          </a:xfrm>
          <a:prstGeom prst="rect">
            <a:avLst/>
          </a:prstGeom>
          <a:solidFill>
            <a:srgbClr val="0A0B11"/>
          </a:solidFill>
          <a:ln w="22225">
            <a:solidFill>
              <a:srgbClr val="5A73F0"/>
            </a:solidFill>
            <a:prstDash val="dash"/>
          </a:ln>
        </p:spPr>
      </p:sp>
      <p:pic>
        <p:nvPicPr>
          <p:cNvPr id="45" name="Image 7" descr="Ícone asteroi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5655" y="2636520"/>
            <a:ext cx="548640" cy="48768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8396935" y="3246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[TERRENO]</a:t>
            </a:r>
            <a:endParaRPr lang="en-US" sz="1200" dirty="0"/>
          </a:p>
        </p:txBody>
      </p:sp>
      <p:sp>
        <p:nvSpPr>
          <p:cNvPr id="47" name="Shape 37"/>
          <p:cNvSpPr/>
          <p:nvPr/>
        </p:nvSpPr>
        <p:spPr>
          <a:xfrm>
            <a:off x="548640" y="4206240"/>
            <a:ext cx="3566160" cy="2103120"/>
          </a:xfrm>
          <a:prstGeom prst="rect">
            <a:avLst/>
          </a:prstGeom>
          <a:solidFill>
            <a:srgbClr val="0A0B11"/>
          </a:solidFill>
          <a:ln w="25400">
            <a:solidFill>
              <a:srgbClr val="5A73F0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548640" y="4206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4023360" y="4206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548640" y="621792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4023360" y="621792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731520" y="4352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53" name="Image 8" descr="Ícone sta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649" y="4421673"/>
            <a:ext cx="245791" cy="245791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1234440" y="4315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IMAGENS DE FUNDO</a:t>
            </a:r>
            <a:endParaRPr lang="en-US" sz="1300" dirty="0"/>
          </a:p>
        </p:txBody>
      </p:sp>
      <p:sp>
        <p:nvSpPr>
          <p:cNvPr id="55" name="Shape 44"/>
          <p:cNvSpPr/>
          <p:nvPr/>
        </p:nvSpPr>
        <p:spPr>
          <a:xfrm>
            <a:off x="731520" y="4892040"/>
            <a:ext cx="3200400" cy="1234440"/>
          </a:xfrm>
          <a:prstGeom prst="rect">
            <a:avLst/>
          </a:prstGeom>
          <a:solidFill>
            <a:srgbClr val="0A0B11"/>
          </a:solidFill>
          <a:ln w="22225">
            <a:solidFill>
              <a:srgbClr val="5A73F0"/>
            </a:solidFill>
            <a:prstDash val="dash"/>
          </a:ln>
        </p:spPr>
      </p:sp>
      <p:pic>
        <p:nvPicPr>
          <p:cNvPr id="56" name="Image 9" descr="Ícone sta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7400" y="4892040"/>
            <a:ext cx="548640" cy="548640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868680" y="5532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[FUNDO DO CENÁRIO]</a:t>
            </a:r>
            <a:endParaRPr lang="en-US" sz="1200" dirty="0"/>
          </a:p>
        </p:txBody>
      </p:sp>
      <p:sp>
        <p:nvSpPr>
          <p:cNvPr id="58" name="Shape 46"/>
          <p:cNvSpPr/>
          <p:nvPr/>
        </p:nvSpPr>
        <p:spPr>
          <a:xfrm>
            <a:off x="4312768" y="4206240"/>
            <a:ext cx="3566160" cy="210312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4312768" y="4206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>
            <a:off x="7787488" y="4206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4312768" y="621792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62" name="Shape 50"/>
          <p:cNvSpPr/>
          <p:nvPr/>
        </p:nvSpPr>
        <p:spPr>
          <a:xfrm>
            <a:off x="7787488" y="621792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4495648" y="4352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64" name="Image 10" descr="Ícone monito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64776" y="4421673"/>
            <a:ext cx="245791" cy="245791"/>
          </a:xfrm>
          <a:prstGeom prst="rect">
            <a:avLst/>
          </a:prstGeom>
        </p:spPr>
      </p:pic>
      <p:sp>
        <p:nvSpPr>
          <p:cNvPr id="65" name="Text 52"/>
          <p:cNvSpPr txBox="1"/>
          <p:nvPr/>
        </p:nvSpPr>
        <p:spPr>
          <a:xfrm>
            <a:off x="4998568" y="4315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TELAS DE MENU</a:t>
            </a:r>
            <a:endParaRPr lang="en-US" sz="1300" dirty="0"/>
          </a:p>
        </p:txBody>
      </p:sp>
      <p:sp>
        <p:nvSpPr>
          <p:cNvPr id="66" name="Shape 53"/>
          <p:cNvSpPr/>
          <p:nvPr/>
        </p:nvSpPr>
        <p:spPr>
          <a:xfrm>
            <a:off x="4495648" y="4892040"/>
            <a:ext cx="3200400" cy="1234440"/>
          </a:xfrm>
          <a:prstGeom prst="rect">
            <a:avLst/>
          </a:prstGeom>
          <a:solidFill>
            <a:srgbClr val="0A0B11"/>
          </a:solidFill>
          <a:ln w="22225">
            <a:solidFill>
              <a:srgbClr val="B4F23C"/>
            </a:solidFill>
            <a:prstDash val="dash"/>
          </a:ln>
        </p:spPr>
      </p:sp>
      <p:pic>
        <p:nvPicPr>
          <p:cNvPr id="67" name="Image 11" descr="Ícone monito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21528" y="4892040"/>
            <a:ext cx="548640" cy="548640"/>
          </a:xfrm>
          <a:prstGeom prst="rect">
            <a:avLst/>
          </a:prstGeom>
        </p:spPr>
      </p:pic>
      <p:sp>
        <p:nvSpPr>
          <p:cNvPr id="68" name="Text 54"/>
          <p:cNvSpPr txBox="1"/>
          <p:nvPr/>
        </p:nvSpPr>
        <p:spPr>
          <a:xfrm>
            <a:off x="4632808" y="5532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[MENU INICIAL]</a:t>
            </a:r>
            <a:endParaRPr lang="en-US" sz="1200" dirty="0"/>
          </a:p>
        </p:txBody>
      </p:sp>
      <p:sp>
        <p:nvSpPr>
          <p:cNvPr id="69" name="Shape 55"/>
          <p:cNvSpPr/>
          <p:nvPr/>
        </p:nvSpPr>
        <p:spPr>
          <a:xfrm>
            <a:off x="8076895" y="4206240"/>
            <a:ext cx="3566160" cy="2103120"/>
          </a:xfrm>
          <a:prstGeom prst="rect">
            <a:avLst/>
          </a:prstGeom>
          <a:solidFill>
            <a:srgbClr val="0A0B11"/>
          </a:solidFill>
          <a:ln w="25400">
            <a:solidFill>
              <a:srgbClr val="EF3B3B"/>
            </a:solidFill>
            <a:prstDash val="solid"/>
          </a:ln>
        </p:spPr>
      </p:sp>
      <p:sp>
        <p:nvSpPr>
          <p:cNvPr id="70" name="Shape 56"/>
          <p:cNvSpPr/>
          <p:nvPr/>
        </p:nvSpPr>
        <p:spPr>
          <a:xfrm>
            <a:off x="8076895" y="420624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71" name="Shape 57"/>
          <p:cNvSpPr/>
          <p:nvPr/>
        </p:nvSpPr>
        <p:spPr>
          <a:xfrm>
            <a:off x="11551615" y="420624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72" name="Shape 58"/>
          <p:cNvSpPr/>
          <p:nvPr/>
        </p:nvSpPr>
        <p:spPr>
          <a:xfrm>
            <a:off x="8076895" y="621792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73" name="Shape 59"/>
          <p:cNvSpPr/>
          <p:nvPr/>
        </p:nvSpPr>
        <p:spPr>
          <a:xfrm>
            <a:off x="11551615" y="621792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74" name="Shape 60"/>
          <p:cNvSpPr/>
          <p:nvPr/>
        </p:nvSpPr>
        <p:spPr>
          <a:xfrm>
            <a:off x="8259775" y="4352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EF3B3B"/>
            </a:solidFill>
            <a:prstDash val="solid"/>
          </a:ln>
        </p:spPr>
      </p:sp>
      <p:pic>
        <p:nvPicPr>
          <p:cNvPr id="75" name="Image 12" descr="Ícone heart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8904" y="4435328"/>
            <a:ext cx="245791" cy="218481"/>
          </a:xfrm>
          <a:prstGeom prst="rect">
            <a:avLst/>
          </a:prstGeom>
        </p:spPr>
      </p:pic>
      <p:sp>
        <p:nvSpPr>
          <p:cNvPr id="76" name="Text 61"/>
          <p:cNvSpPr txBox="1"/>
          <p:nvPr/>
        </p:nvSpPr>
        <p:spPr>
          <a:xfrm>
            <a:off x="8762695" y="4315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TELAS IN GAME</a:t>
            </a:r>
            <a:endParaRPr lang="en-US" sz="1300" dirty="0"/>
          </a:p>
        </p:txBody>
      </p:sp>
      <p:sp>
        <p:nvSpPr>
          <p:cNvPr id="77" name="Shape 62"/>
          <p:cNvSpPr/>
          <p:nvPr/>
        </p:nvSpPr>
        <p:spPr>
          <a:xfrm>
            <a:off x="8259775" y="4892040"/>
            <a:ext cx="3200400" cy="1234440"/>
          </a:xfrm>
          <a:prstGeom prst="rect">
            <a:avLst/>
          </a:prstGeom>
          <a:solidFill>
            <a:srgbClr val="0A0B11"/>
          </a:solidFill>
          <a:ln w="22225">
            <a:solidFill>
              <a:srgbClr val="EF3B3B"/>
            </a:solidFill>
            <a:prstDash val="dash"/>
          </a:ln>
        </p:spPr>
      </p:sp>
      <p:pic>
        <p:nvPicPr>
          <p:cNvPr id="78" name="Image 13" descr="Ícone hear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85655" y="4922520"/>
            <a:ext cx="548640" cy="487680"/>
          </a:xfrm>
          <a:prstGeom prst="rect">
            <a:avLst/>
          </a:prstGeom>
        </p:spPr>
      </p:pic>
      <p:sp>
        <p:nvSpPr>
          <p:cNvPr id="79" name="Text 63"/>
          <p:cNvSpPr txBox="1"/>
          <p:nvPr/>
        </p:nvSpPr>
        <p:spPr>
          <a:xfrm>
            <a:off x="8396935" y="5532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[HUD: PONTUAÇÃO E INFORMAÇÕES]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1417320" y="384048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5.1 MECÂNICAS E FLUXO · WIREFRAME</a:t>
            </a:r>
            <a:endParaRPr lang="en-US" sz="2400" dirty="0"/>
          </a:p>
        </p:txBody>
      </p:sp>
      <p:pic>
        <p:nvPicPr>
          <p:cNvPr id="3" name="Image 0" descr="Ícone wirefra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25364"/>
            <a:ext cx="548640" cy="448887"/>
          </a:xfrm>
          <a:prstGeom prst="rect">
            <a:avLst/>
          </a:prstGeom>
        </p:spPr>
      </p:pic>
      <p:pic>
        <p:nvPicPr>
          <p:cNvPr id="4" name="Image 1" descr="Ícone wirefra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525364"/>
            <a:ext cx="548640" cy="44888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072488" y="1207008"/>
            <a:ext cx="8046720" cy="420624"/>
          </a:xfrm>
          <a:prstGeom prst="rect">
            <a:avLst/>
          </a:prstGeom>
          <a:solidFill>
            <a:srgbClr val="0A0C1C"/>
          </a:solidFill>
          <a:ln w="19050">
            <a:solidFill>
              <a:srgbClr val="5A73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895448" y="120700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PRODUZIDO EM FUNDAMENTOS DE UX/UI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2237080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34680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45653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66200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77173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881464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66160" y="63825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[SLIDE 10 / 15 · APRESENTAÇÃO ACADÊMICA]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1920240"/>
            <a:ext cx="11094415" cy="4389120"/>
          </a:xfrm>
          <a:prstGeom prst="rect">
            <a:avLst/>
          </a:prstGeom>
          <a:solidFill>
            <a:srgbClr val="0A0B11"/>
          </a:solidFill>
          <a:ln w="22225">
            <a:solidFill>
              <a:srgbClr val="5A73F0"/>
            </a:solidFill>
            <a:prstDash val="dash"/>
          </a:ln>
        </p:spPr>
      </p:sp>
      <p:pic>
        <p:nvPicPr>
          <p:cNvPr id="15" name="Image 2" descr="Ícone wirefra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48" y="3210791"/>
            <a:ext cx="1371600" cy="11222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" y="454914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[WIREFRAME]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1417320" y="384048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5.2 MECÂNICAS E FLUXO · PROTÓTIPO FIGMA</a:t>
            </a:r>
            <a:endParaRPr lang="en-US" sz="2400" dirty="0"/>
          </a:p>
        </p:txBody>
      </p:sp>
      <p:pic>
        <p:nvPicPr>
          <p:cNvPr id="3" name="Image 0" descr="Ícone curs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475488"/>
            <a:ext cx="411480" cy="548640"/>
          </a:xfrm>
          <a:prstGeom prst="rect">
            <a:avLst/>
          </a:prstGeom>
        </p:spPr>
      </p:pic>
      <p:pic>
        <p:nvPicPr>
          <p:cNvPr id="4" name="Image 1" descr="Ícone curs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7372" y="475488"/>
            <a:ext cx="411480" cy="5486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169768" y="1207008"/>
            <a:ext cx="5852160" cy="420624"/>
          </a:xfrm>
          <a:prstGeom prst="rect">
            <a:avLst/>
          </a:prstGeom>
          <a:solidFill>
            <a:srgbClr val="0A0C1C"/>
          </a:solidFill>
          <a:ln w="19050">
            <a:solidFill>
              <a:srgbClr val="5A73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3992728" y="120700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NAVEGAÇÃO ENTRE TELAS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3334360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44408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55381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56472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67445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784184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66160" y="63825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[SLIDE 11 / 15 · APRESENTAÇÃO ACADÊMICA]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1920240"/>
            <a:ext cx="11094415" cy="4389120"/>
          </a:xfrm>
          <a:prstGeom prst="rect">
            <a:avLst/>
          </a:prstGeom>
          <a:solidFill>
            <a:srgbClr val="0A0B11"/>
          </a:solidFill>
          <a:ln w="22225">
            <a:solidFill>
              <a:srgbClr val="EF3B3B"/>
            </a:solidFill>
            <a:prstDash val="dash"/>
          </a:ln>
        </p:spPr>
      </p:sp>
      <p:pic>
        <p:nvPicPr>
          <p:cNvPr id="15" name="Image 2" descr="Ícone curs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498" y="3086100"/>
            <a:ext cx="1028700" cy="1371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" y="454914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[PROTÓTIPO DO FIGMA]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1417320" y="384048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5.3 MECÂNICAS E FLUXO · O GAMEPLAY</a:t>
            </a:r>
            <a:endParaRPr lang="en-US" sz="2400" dirty="0"/>
          </a:p>
        </p:txBody>
      </p:sp>
      <p:pic>
        <p:nvPicPr>
          <p:cNvPr id="3" name="Image 0" descr="Ícone gamep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6928"/>
            <a:ext cx="548640" cy="365760"/>
          </a:xfrm>
          <a:prstGeom prst="rect">
            <a:avLst/>
          </a:prstGeom>
        </p:spPr>
      </p:pic>
      <p:pic>
        <p:nvPicPr>
          <p:cNvPr id="4" name="Image 1" descr="Ícone gamep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566928"/>
            <a:ext cx="548640" cy="3657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621128" y="1207008"/>
            <a:ext cx="6949440" cy="420624"/>
          </a:xfrm>
          <a:prstGeom prst="rect">
            <a:avLst/>
          </a:prstGeom>
          <a:solidFill>
            <a:srgbClr val="0A0C1C"/>
          </a:solidFill>
          <a:ln w="19050">
            <a:solidFill>
              <a:srgbClr val="5A73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3444088" y="1207008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AÇÕES · OBJETIVO · DESAFIOS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2785720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89544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00517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11336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22309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332824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66160" y="63825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[SLIDE 12 / 15 · APRESENTAÇÃO ACADÊMICA]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1920240"/>
            <a:ext cx="3566160" cy="438912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023360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621792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023360" y="621792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20" name="Image 2" descr="Ícone curs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72" y="2135673"/>
            <a:ext cx="184343" cy="24579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34440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AÇÕES</a:t>
            </a:r>
            <a:endParaRPr lang="en-US" sz="1300" dirty="0"/>
          </a:p>
        </p:txBody>
      </p:sp>
      <p:pic>
        <p:nvPicPr>
          <p:cNvPr id="22" name="Image 3" descr="Ícone curs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2788920"/>
            <a:ext cx="822960" cy="10972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22960" y="42062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 jogador mira com o mouse e clica para disparar interceptadores contra os mísseis que descem do céu.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4312768" y="1920240"/>
            <a:ext cx="3566160" cy="4389120"/>
          </a:xfrm>
          <a:prstGeom prst="rect">
            <a:avLst/>
          </a:prstGeom>
          <a:solidFill>
            <a:srgbClr val="0A0B11"/>
          </a:solidFill>
          <a:ln w="25400">
            <a:solidFill>
              <a:srgbClr val="5A73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312768" y="1920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787488" y="1920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312768" y="621792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787488" y="621792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495648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30" name="Image 4" descr="Ícone troph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4776" y="2135673"/>
            <a:ext cx="245791" cy="24579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998568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OBJETIVO</a:t>
            </a:r>
            <a:endParaRPr lang="en-US" sz="1300" dirty="0"/>
          </a:p>
        </p:txBody>
      </p:sp>
      <p:pic>
        <p:nvPicPr>
          <p:cNvPr id="32" name="Image 5" descr="Ícone troph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7208" y="2788920"/>
            <a:ext cx="1097280" cy="109728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587088" y="42062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Proteger as bases pelo maior tempo possível, somando pontos a cada míssil destruído e buscando bater recordes.</a:t>
            </a:r>
            <a:endParaRPr lang="en-US" sz="1800" dirty="0"/>
          </a:p>
        </p:txBody>
      </p:sp>
      <p:sp>
        <p:nvSpPr>
          <p:cNvPr id="34" name="Shape 26"/>
          <p:cNvSpPr/>
          <p:nvPr/>
        </p:nvSpPr>
        <p:spPr>
          <a:xfrm>
            <a:off x="8076895" y="1920240"/>
            <a:ext cx="3566160" cy="4389120"/>
          </a:xfrm>
          <a:prstGeom prst="rect">
            <a:avLst/>
          </a:prstGeom>
          <a:solidFill>
            <a:srgbClr val="0A0B11"/>
          </a:solidFill>
          <a:ln w="25400">
            <a:solidFill>
              <a:srgbClr val="EF3B3B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076895" y="192024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11551615" y="192024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076895" y="621792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11551615" y="621792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259775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EF3B3B"/>
            </a:solidFill>
            <a:prstDash val="solid"/>
          </a:ln>
        </p:spPr>
      </p:sp>
      <p:pic>
        <p:nvPicPr>
          <p:cNvPr id="40" name="Image 6" descr="Ícone missi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5938" y="2135673"/>
            <a:ext cx="111723" cy="245791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762695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DESAFIOS</a:t>
            </a:r>
            <a:endParaRPr lang="en-US" sz="1300" dirty="0"/>
          </a:p>
        </p:txBody>
      </p:sp>
      <p:pic>
        <p:nvPicPr>
          <p:cNvPr id="42" name="Image 7" descr="Ícone missi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0593" y="2788920"/>
            <a:ext cx="498764" cy="109728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351215" y="42062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Ondas de mísseis cada vez mais rápidas e numerosas, munição limitada e bases que podem ser destruídas.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1417320" y="384048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6. EXPLICAÇÃO DE UMA PARTE DO CÓDIGO</a:t>
            </a:r>
            <a:endParaRPr lang="en-US" sz="2400" dirty="0"/>
          </a:p>
        </p:txBody>
      </p:sp>
      <p:pic>
        <p:nvPicPr>
          <p:cNvPr id="3" name="Image 0" descr="Ícone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21792"/>
            <a:ext cx="548640" cy="256032"/>
          </a:xfrm>
          <a:prstGeom prst="rect">
            <a:avLst/>
          </a:prstGeom>
        </p:spPr>
      </p:pic>
      <p:pic>
        <p:nvPicPr>
          <p:cNvPr id="4" name="Image 1" descr="Ícone 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621792"/>
            <a:ext cx="548640" cy="25603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523848" y="1207008"/>
            <a:ext cx="9144000" cy="420624"/>
          </a:xfrm>
          <a:prstGeom prst="rect">
            <a:avLst/>
          </a:prstGeom>
          <a:solidFill>
            <a:srgbClr val="0A0C1C"/>
          </a:solidFill>
          <a:ln w="19050">
            <a:solidFill>
              <a:srgbClr val="5A73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346808" y="120700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LÓGICA DO SCRIPT · DESTRUIÇÃO DA CIDADE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1688440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79816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90789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21064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32037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430104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66160" y="63825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[SLIDE 13 / 15 · APRESENTAÇÃO ACADÊMICA]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1920240"/>
            <a:ext cx="5943600" cy="4389120"/>
          </a:xfrm>
          <a:prstGeom prst="rect">
            <a:avLst/>
          </a:prstGeom>
          <a:solidFill>
            <a:srgbClr val="090D07"/>
          </a:solidFill>
          <a:ln w="25400">
            <a:solidFill>
              <a:srgbClr val="5A73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1920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0" y="192024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621792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0" y="621792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7240" y="210312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8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Exemplo: substitua pelo trecho real do projeto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AB7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Cidade : MonoBehaviour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4F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4F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Animator animator;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4F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Awake()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4F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4F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animator = GetComponent&lt;Animator&gt;();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4F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4F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Destruir()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4F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4F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animator.SetTrigger("Destruir");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4F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4F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720840" y="1920240"/>
            <a:ext cx="4922215" cy="132588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720840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1551615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20840" y="315468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551615" y="315468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903720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26" name="Image 2" descr="Ícone 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849" y="2201217"/>
            <a:ext cx="245791" cy="11470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406640" y="2029968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FUNÇÃO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949440" y="2514600"/>
            <a:ext cx="4465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Destruir() aciona a animação de destruição da cidade.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6720840" y="3337560"/>
            <a:ext cx="4922215" cy="1325880"/>
          </a:xfrm>
          <a:prstGeom prst="rect">
            <a:avLst/>
          </a:prstGeom>
          <a:solidFill>
            <a:srgbClr val="0A0B11"/>
          </a:solidFill>
          <a:ln w="25400">
            <a:solidFill>
              <a:srgbClr val="5A73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720840" y="333756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1551615" y="333756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720840" y="457200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551615" y="4572000"/>
            <a:ext cx="91440" cy="91440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903720" y="348386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5A73F0"/>
            </a:solidFill>
            <a:prstDash val="solid"/>
          </a:ln>
        </p:spPr>
      </p:sp>
      <p:pic>
        <p:nvPicPr>
          <p:cNvPr id="35" name="Image 3" descr="Ícone ge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849" y="3580303"/>
            <a:ext cx="245791" cy="191171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406640" y="3447288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3F0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VARIÁVEIS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949440" y="3931920"/>
            <a:ext cx="4465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animator controla os estados da cidade no Animator do Unity.</a:t>
            </a:r>
            <a:endParaRPr lang="en-US" sz="1600" dirty="0"/>
          </a:p>
        </p:txBody>
      </p:sp>
      <p:sp>
        <p:nvSpPr>
          <p:cNvPr id="38" name="Shape 32"/>
          <p:cNvSpPr/>
          <p:nvPr/>
        </p:nvSpPr>
        <p:spPr>
          <a:xfrm>
            <a:off x="6720840" y="4754880"/>
            <a:ext cx="4922215" cy="1554480"/>
          </a:xfrm>
          <a:prstGeom prst="rect">
            <a:avLst/>
          </a:prstGeom>
          <a:solidFill>
            <a:srgbClr val="0A0B11"/>
          </a:solidFill>
          <a:ln w="25400">
            <a:solidFill>
              <a:srgbClr val="EF3B3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720840" y="475488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11551615" y="475488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6720840" y="621792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1551615" y="6217920"/>
            <a:ext cx="91440" cy="91440"/>
          </a:xfrm>
          <a:prstGeom prst="rect">
            <a:avLst/>
          </a:prstGeom>
          <a:solidFill>
            <a:srgbClr val="EF3B3B"/>
          </a:solidFill>
          <a:ln w="12700">
            <a:solidFill>
              <a:srgbClr val="EF3B3B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6903720" y="490118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EF3B3B"/>
            </a:solidFill>
            <a:prstDash val="solid"/>
          </a:ln>
        </p:spPr>
      </p:sp>
      <p:pic>
        <p:nvPicPr>
          <p:cNvPr id="44" name="Image 4" descr="Ícone cit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849" y="5021519"/>
            <a:ext cx="245791" cy="143378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7406640" y="4864608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6949440" y="5349240"/>
            <a:ext cx="4465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 cidade passa de intacta para flash e escombros (6 frames, 6 FPS) quando é atingida.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1417320" y="384048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7. GAMEPLAY EM AÇÃO</a:t>
            </a:r>
            <a:endParaRPr lang="en-US" sz="2400" dirty="0"/>
          </a:p>
        </p:txBody>
      </p:sp>
      <p:pic>
        <p:nvPicPr>
          <p:cNvPr id="3" name="Image 0" descr="Ícone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"/>
            <a:ext cx="548640" cy="548640"/>
          </a:xfrm>
          <a:prstGeom prst="rect">
            <a:avLst/>
          </a:prstGeom>
        </p:spPr>
      </p:pic>
      <p:pic>
        <p:nvPicPr>
          <p:cNvPr id="4" name="Image 1" descr="Ícone moni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475488"/>
            <a:ext cx="548640" cy="5486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261208" y="1207008"/>
            <a:ext cx="5669280" cy="420624"/>
          </a:xfrm>
          <a:prstGeom prst="rect">
            <a:avLst/>
          </a:prstGeom>
          <a:solidFill>
            <a:srgbClr val="0A0C1C"/>
          </a:solidFill>
          <a:ln w="19050">
            <a:solidFill>
              <a:srgbClr val="5A73F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084168" y="120700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DEMONSTRAÇÃO DO JOGO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3425800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53552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4525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473288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583016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692744" y="1389888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66160" y="63825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[SLIDE 14 / 15 · APRESENTAÇÃO ACADÊMICA]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1920240"/>
            <a:ext cx="7040880" cy="4389120"/>
          </a:xfrm>
          <a:prstGeom prst="rect">
            <a:avLst/>
          </a:prstGeom>
          <a:solidFill>
            <a:srgbClr val="0A0B11"/>
          </a:solidFill>
          <a:ln w="22225">
            <a:solidFill>
              <a:srgbClr val="EF3B3B"/>
            </a:solidFill>
            <a:prstDash val="dash"/>
          </a:ln>
        </p:spPr>
      </p:sp>
      <p:pic>
        <p:nvPicPr>
          <p:cNvPr id="15" name="Image 2" descr="Ícone moni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131820"/>
            <a:ext cx="1280160" cy="12801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" y="450342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[VÍDEO DO JOGO FUNCIONANDO]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7772400" y="1920240"/>
            <a:ext cx="3870655" cy="438912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0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1551615" y="1920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0" y="621792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551615" y="621792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955280" y="2066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23" name="Image 3" descr="Ícone moni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409" y="2135673"/>
            <a:ext cx="245791" cy="24579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458200" y="2029968"/>
            <a:ext cx="3001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 VÍDEO MOSTRA</a:t>
            </a:r>
            <a:endParaRPr lang="en-US" sz="1300" dirty="0"/>
          </a:p>
        </p:txBody>
      </p:sp>
      <p:pic>
        <p:nvPicPr>
          <p:cNvPr id="25" name="Image 4" descr="Ícone gamepa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3067812"/>
            <a:ext cx="329184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503920" y="2743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Início e menu do jogo</a:t>
            </a:r>
            <a:endParaRPr lang="en-US" sz="1800" dirty="0"/>
          </a:p>
        </p:txBody>
      </p:sp>
      <p:pic>
        <p:nvPicPr>
          <p:cNvPr id="27" name="Image 5" descr="Ícone curs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7868" y="3881628"/>
            <a:ext cx="246888" cy="32918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503920" y="3611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Mecânica principal</a:t>
            </a:r>
            <a:endParaRPr lang="en-US" sz="1800" dirty="0"/>
          </a:p>
        </p:txBody>
      </p:sp>
      <p:pic>
        <p:nvPicPr>
          <p:cNvPr id="29" name="Image 6" descr="Ícone troph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475030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503920" y="44805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Tela de Game Over / Vitória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1097280" y="365760"/>
            <a:ext cx="99943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2255368" y="1691640"/>
            <a:ext cx="7680960" cy="420624"/>
          </a:xfrm>
          <a:prstGeom prst="rect">
            <a:avLst/>
          </a:prstGeom>
          <a:solidFill>
            <a:srgbClr val="0A0C1C"/>
          </a:solidFill>
          <a:ln w="19050">
            <a:solidFill>
              <a:srgbClr val="5A7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078328" y="169164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MUITO OBRIGADO PELA SUA ATENÇÃO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19960" y="1874520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29688" y="1874520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9416" y="1874520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79128" y="1874520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88856" y="1874520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8584" y="1874520"/>
            <a:ext cx="54864" cy="54864"/>
          </a:xfrm>
          <a:prstGeom prst="rect">
            <a:avLst/>
          </a:prstGeom>
          <a:solidFill>
            <a:srgbClr val="5A73F0"/>
          </a:solidFill>
          <a:ln w="12700">
            <a:solidFill>
              <a:srgbClr val="5A73F0"/>
            </a:solidFill>
            <a:prstDash val="solid"/>
          </a:ln>
        </p:spPr>
      </p:sp>
      <p:pic>
        <p:nvPicPr>
          <p:cNvPr id="11" name="Image 0" descr="Ícone he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319020"/>
            <a:ext cx="594360" cy="528320"/>
          </a:xfrm>
          <a:prstGeom prst="rect">
            <a:avLst/>
          </a:prstGeom>
        </p:spPr>
      </p:pic>
      <p:pic>
        <p:nvPicPr>
          <p:cNvPr id="12" name="Image 1" descr="Ícone inva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367049"/>
            <a:ext cx="594360" cy="432262"/>
          </a:xfrm>
          <a:prstGeom prst="rect">
            <a:avLst/>
          </a:prstGeom>
        </p:spPr>
      </p:pic>
      <p:pic>
        <p:nvPicPr>
          <p:cNvPr id="13" name="Image 2" descr="Ícone rock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314" y="2286000"/>
            <a:ext cx="416052" cy="594360"/>
          </a:xfrm>
          <a:prstGeom prst="rect">
            <a:avLst/>
          </a:prstGeom>
        </p:spPr>
      </p:pic>
      <p:pic>
        <p:nvPicPr>
          <p:cNvPr id="14" name="Image 3" descr="Ícone s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286000"/>
            <a:ext cx="594360" cy="594360"/>
          </a:xfrm>
          <a:prstGeom prst="rect">
            <a:avLst/>
          </a:prstGeom>
        </p:spPr>
      </p:pic>
      <p:pic>
        <p:nvPicPr>
          <p:cNvPr id="15" name="Image 4" descr="Ícone rock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874" y="2286000"/>
            <a:ext cx="416052" cy="594360"/>
          </a:xfrm>
          <a:prstGeom prst="rect">
            <a:avLst/>
          </a:prstGeom>
        </p:spPr>
      </p:pic>
      <p:pic>
        <p:nvPicPr>
          <p:cNvPr id="16" name="Image 5" descr="Ícone invad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2367049"/>
            <a:ext cx="594360" cy="432262"/>
          </a:xfrm>
          <a:prstGeom prst="rect">
            <a:avLst/>
          </a:prstGeom>
        </p:spPr>
      </p:pic>
      <p:pic>
        <p:nvPicPr>
          <p:cNvPr id="17" name="Image 6" descr="Ícone hear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319020"/>
            <a:ext cx="594360" cy="52832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548640" y="3063240"/>
            <a:ext cx="5486400" cy="3200400"/>
          </a:xfrm>
          <a:prstGeom prst="rect">
            <a:avLst/>
          </a:prstGeom>
          <a:solidFill>
            <a:srgbClr val="0A0B11"/>
          </a:solidFill>
          <a:ln w="25400">
            <a:solidFill>
              <a:srgbClr val="B4F23C"/>
            </a:solidFill>
            <a:prstDash val="solid"/>
          </a:ln>
        </p:spPr>
      </p:sp>
      <p:sp>
        <p:nvSpPr>
          <p:cNvPr id="19" name="Shape 10"/>
          <p:cNvSpPr/>
          <p:nvPr/>
        </p:nvSpPr>
        <p:spPr>
          <a:xfrm>
            <a:off x="548640" y="3063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0" name="Shape 11"/>
          <p:cNvSpPr/>
          <p:nvPr/>
        </p:nvSpPr>
        <p:spPr>
          <a:xfrm>
            <a:off x="5943600" y="306324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548640" y="617220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5943600" y="6172200"/>
            <a:ext cx="91440" cy="91440"/>
          </a:xfrm>
          <a:prstGeom prst="rect">
            <a:avLst/>
          </a:prstGeom>
          <a:solidFill>
            <a:srgbClr val="B4F23C"/>
          </a:solidFill>
          <a:ln w="12700">
            <a:solidFill>
              <a:srgbClr val="B4F23C"/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731520" y="3209544"/>
            <a:ext cx="384048" cy="384048"/>
          </a:xfrm>
          <a:prstGeom prst="rect">
            <a:avLst/>
          </a:prstGeom>
          <a:solidFill>
            <a:srgbClr val="0A0B11"/>
          </a:solidFill>
          <a:ln w="19050">
            <a:solidFill>
              <a:srgbClr val="B4F23C"/>
            </a:solidFill>
            <a:prstDash val="solid"/>
          </a:ln>
        </p:spPr>
      </p:sp>
      <p:pic>
        <p:nvPicPr>
          <p:cNvPr id="24" name="Image 7" descr="Ícone peop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649" y="3315541"/>
            <a:ext cx="245791" cy="17205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234440" y="317296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23C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EQUIPE</a:t>
            </a:r>
            <a:endParaRPr lang="en-US" sz="1300" dirty="0"/>
          </a:p>
        </p:txBody>
      </p:sp>
      <p:sp>
        <p:nvSpPr>
          <p:cNvPr id="26" name="Text 16"/>
          <p:cNvSpPr txBox="1"/>
          <p:nvPr/>
        </p:nvSpPr>
        <p:spPr>
          <a:xfrm>
            <a:off x="822960" y="38404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B4F23C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Ivan Lopes da Silva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B4F23C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Matheus Thiago Lima Assad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E8F5D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Jogo: Missile Command Remake</a:t>
            </a:r>
            <a:endParaRPr lang="en-US" sz="2000" dirty="0"/>
          </a:p>
        </p:txBody>
      </p:sp>
      <p:sp>
        <p:nvSpPr>
          <p:cNvPr id="27" name="Shape 17"/>
          <p:cNvSpPr/>
          <p:nvPr/>
        </p:nvSpPr>
        <p:spPr>
          <a:xfrm>
            <a:off x="6217920" y="3063240"/>
            <a:ext cx="5425135" cy="3200400"/>
          </a:xfrm>
          <a:prstGeom prst="rect">
            <a:avLst/>
          </a:prstGeom>
          <a:solidFill>
            <a:srgbClr val="0A0B11"/>
          </a:solidFill>
          <a:ln w="22225">
            <a:solidFill>
              <a:srgbClr val="EF3B3B"/>
            </a:solidFill>
            <a:prstDash val="dash"/>
          </a:ln>
        </p:spPr>
      </p:sp>
      <p:pic>
        <p:nvPicPr>
          <p:cNvPr id="28" name="Image 8" descr="Ícone search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7568" y="3817620"/>
            <a:ext cx="1005840" cy="100584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6355080" y="4914900"/>
            <a:ext cx="5150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3B3B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[QR CODE DO ITCH.IO]</a:t>
            </a:r>
            <a:endParaRPr lang="en-US" sz="1600" dirty="0"/>
          </a:p>
        </p:txBody>
      </p:sp>
      <p:sp>
        <p:nvSpPr>
          <p:cNvPr id="30" name="Text 19"/>
          <p:cNvSpPr txBox="1"/>
          <p:nvPr/>
        </p:nvSpPr>
        <p:spPr>
          <a:xfrm>
            <a:off x="3566160" y="63825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3F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[SLIDE 15 / 15 · APRESENTAÇÃO ACADÊMICA]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ade Missile Command">
  <a:themeElements>
    <a:clrScheme name="Arcade Missile Command">
      <a:dk1>
        <a:srgbClr val="050507"/>
      </a:dk1>
      <a:lt1>
        <a:srgbClr val="E8F5D0"/>
      </a:lt1>
      <a:dk2>
        <a:srgbClr val="0A0B11"/>
      </a:dk2>
      <a:lt2>
        <a:srgbClr val="E8F5D0"/>
      </a:lt2>
      <a:accent1>
        <a:srgbClr val="B4F23C"/>
      </a:accent1>
      <a:accent2>
        <a:srgbClr val="EF3B3B"/>
      </a:accent2>
      <a:accent3>
        <a:srgbClr val="5A73F0"/>
      </a:accent3>
      <a:accent4>
        <a:srgbClr val="7AB7CC"/>
      </a:accent4>
      <a:accent5>
        <a:srgbClr val="4A8AA3"/>
      </a:accent5>
      <a:accent6>
        <a:srgbClr val="A9D6E6"/>
      </a:accent6>
      <a:hlink>
        <a:srgbClr val="5A73F0"/>
      </a:hlink>
      <a:folHlink>
        <a:srgbClr val="EF3B3B"/>
      </a:folHlink>
    </a:clrScheme>
    <a:fontScheme name="Arcade Missile Command">
      <a:majorFont>
        <a:latin typeface="Silkscree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jdhan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Missile Command – Remake</dc:title>
  <dc:subject>PptxGenJS Presentation</dc:subject>
  <dc:creator>Ivan Lopes da Silva e Matheus Thiago Lima Assad</dc:creator>
  <cp:lastModifiedBy>Ivan Lopes da Silva e Matheus Thiago Lima Assad</cp:lastModifiedBy>
  <cp:revision>1</cp:revision>
  <dcterms:created xsi:type="dcterms:W3CDTF">2026-10-19T19:51:08Z</dcterms:created>
  <dcterms:modified xsi:type="dcterms:W3CDTF">2026-10-19T19:51:08Z</dcterms:modified>
</cp:coreProperties>
</file>